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1"/>
  </p:notesMasterIdLst>
  <p:sldIdLst>
    <p:sldId id="259" r:id="rId5"/>
    <p:sldId id="256" r:id="rId6"/>
    <p:sldId id="280" r:id="rId7"/>
    <p:sldId id="283" r:id="rId8"/>
    <p:sldId id="282" r:id="rId9"/>
    <p:sldId id="284" r:id="rId10"/>
    <p:sldId id="308" r:id="rId11"/>
    <p:sldId id="287" r:id="rId12"/>
    <p:sldId id="299" r:id="rId13"/>
    <p:sldId id="300" r:id="rId14"/>
    <p:sldId id="304" r:id="rId15"/>
    <p:sldId id="309" r:id="rId16"/>
    <p:sldId id="289" r:id="rId17"/>
    <p:sldId id="290" r:id="rId18"/>
    <p:sldId id="291" r:id="rId19"/>
    <p:sldId id="294" r:id="rId20"/>
    <p:sldId id="295" r:id="rId21"/>
    <p:sldId id="292" r:id="rId22"/>
    <p:sldId id="296" r:id="rId23"/>
    <p:sldId id="297" r:id="rId24"/>
    <p:sldId id="305" r:id="rId25"/>
    <p:sldId id="301" r:id="rId26"/>
    <p:sldId id="302" r:id="rId27"/>
    <p:sldId id="303" r:id="rId28"/>
    <p:sldId id="306" r:id="rId29"/>
    <p:sldId id="307" r:id="rId30"/>
  </p:sldIdLst>
  <p:sldSz cx="9144000" cy="6858000" type="screen4x3"/>
  <p:notesSz cx="6858000" cy="9144000"/>
  <p:defaultTextStyle>
    <a:defPPr>
      <a:defRPr lang="hu-H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4BAE437D-F518-4ADB-B969-9A28CC48BF6E}">
          <p14:sldIdLst>
            <p14:sldId id="259"/>
          </p14:sldIdLst>
        </p14:section>
        <p14:section name="Untitled Section" id="{7AF1DFEE-59BC-4817-BA17-3C50EE71E483}">
          <p14:sldIdLst>
            <p14:sldId id="256"/>
            <p14:sldId id="280"/>
            <p14:sldId id="283"/>
            <p14:sldId id="282"/>
            <p14:sldId id="284"/>
            <p14:sldId id="308"/>
            <p14:sldId id="287"/>
            <p14:sldId id="299"/>
            <p14:sldId id="300"/>
            <p14:sldId id="304"/>
            <p14:sldId id="309"/>
            <p14:sldId id="289"/>
            <p14:sldId id="290"/>
            <p14:sldId id="291"/>
            <p14:sldId id="294"/>
            <p14:sldId id="295"/>
            <p14:sldId id="292"/>
            <p14:sldId id="296"/>
            <p14:sldId id="297"/>
            <p14:sldId id="305"/>
            <p14:sldId id="301"/>
            <p14:sldId id="302"/>
            <p14:sldId id="303"/>
            <p14:sldId id="306"/>
            <p14:sldId id="3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zBK Correction" initials="CzBK" lastIdx="2" clrIdx="0"/>
  <p:cmAuthor id="1" name="Forstner, Gabriella HU" initials="FGH" lastIdx="1" clrIdx="1"/>
  <p:cmAuthor id="2" name="Vas, Agnes HU" initials="VAH" lastIdx="3" clrIdx="2"/>
  <p:cmAuthor id="3" name="Cseh, Anna HU" initials="CAH" lastIdx="2" clrIdx="3">
    <p:extLst>
      <p:ext uri="{19B8F6BF-5375-455C-9EA6-DF929625EA0E}">
        <p15:presenceInfo xmlns:p15="http://schemas.microsoft.com/office/powerpoint/2012/main" userId="S-1-5-21-1446080293-292138083-3288822308-14872" providerId="AD"/>
      </p:ext>
    </p:extLst>
  </p:cmAuthor>
  <p:cmAuthor id="4" name="Kiss, Marton HU" initials="KMH" lastIdx="1" clrIdx="4">
    <p:extLst>
      <p:ext uri="{19B8F6BF-5375-455C-9EA6-DF929625EA0E}">
        <p15:presenceInfo xmlns:p15="http://schemas.microsoft.com/office/powerpoint/2012/main" userId="S::kiss.marton@egisplc.com::60d1827c-615d-4de7-8751-e8fd6ce92ed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C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2637" autoAdjust="0"/>
  </p:normalViewPr>
  <p:slideViewPr>
    <p:cSldViewPr>
      <p:cViewPr varScale="1">
        <p:scale>
          <a:sx n="98" d="100"/>
          <a:sy n="98" d="100"/>
        </p:scale>
        <p:origin x="65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D5DC0E-BC98-4C7F-A282-835EB5E8A9B2}" type="datetimeFigureOut">
              <a:rPr lang="hu-HU" smtClean="0"/>
              <a:t>2020.03.31.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C8782C-38D7-4ACC-9F39-F7F2ECB5F6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45641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F25420-27D0-4D50-A850-3097B7C58694}"/>
              </a:ext>
            </a:extLst>
          </p:cNvPr>
          <p:cNvSpPr/>
          <p:nvPr userDrawn="1"/>
        </p:nvSpPr>
        <p:spPr>
          <a:xfrm>
            <a:off x="0" y="0"/>
            <a:ext cx="3124200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4213" y="2133600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hu-HU" altLang="hu-HU" noProof="0"/>
              <a:t>Mintacím szerkesztése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hu-HU" altLang="hu-HU" noProof="0"/>
              <a:t>Alcím mintájának szerkesztése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092825"/>
            <a:ext cx="2895600" cy="431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4007177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68313" y="6237288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32138" y="6237288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88125" y="6237288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48151D-7721-45B5-B55C-12DC21E2FD7B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99303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68313" y="6237288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32138" y="6237288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88125" y="6237288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6B92F-2B4D-42C9-9D2A-284AACBBEA45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015917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31913" y="404813"/>
            <a:ext cx="7366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hu-HU"/>
              <a:t>Mintacím szerkesztése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58888" y="1700213"/>
            <a:ext cx="7439025" cy="417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hu-HU"/>
              <a:t>Mintaszöveg szerkesztése</a:t>
            </a:r>
          </a:p>
          <a:p>
            <a:pPr lvl="1"/>
            <a:r>
              <a:rPr lang="hu-HU" altLang="hu-HU"/>
              <a:t>Második szint</a:t>
            </a:r>
          </a:p>
          <a:p>
            <a:pPr lvl="2"/>
            <a:r>
              <a:rPr lang="hu-HU" altLang="hu-HU"/>
              <a:t>Harmadik szint</a:t>
            </a:r>
          </a:p>
          <a:p>
            <a:pPr lvl="3"/>
            <a:r>
              <a:rPr lang="hu-HU" altLang="hu-HU"/>
              <a:t>Negyedik szint</a:t>
            </a:r>
          </a:p>
          <a:p>
            <a:pPr lvl="4"/>
            <a:r>
              <a:rPr lang="hu-HU" altLang="hu-HU"/>
              <a:t>Ötödik szint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ern="12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da.gov/media/123801/download" TargetMode="External"/><Relationship Id="rId3" Type="http://schemas.openxmlformats.org/officeDocument/2006/relationships/image" Target="../media/image45.png"/><Relationship Id="rId7" Type="http://schemas.openxmlformats.org/officeDocument/2006/relationships/hyperlink" Target="https://www.ema.europa.eu/en/documents/scientific-guideline/guideline-adjustment-baseline-covariates-clinical-trials_en.pdf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atabase.ich.org/sites/default/files/E9-R1_EWG_Draft_Guideline.pdf" TargetMode="External"/><Relationship Id="rId5" Type="http://schemas.openxmlformats.org/officeDocument/2006/relationships/hyperlink" Target="https://database.ich.org/sites/default/files/E9_Guideline.pdf" TargetMode="Externa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20B27-806E-44A4-B3C0-91B45F551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55" y="4797152"/>
            <a:ext cx="9971329" cy="936104"/>
          </a:xfrm>
        </p:spPr>
        <p:txBody>
          <a:bodyPr/>
          <a:lstStyle/>
          <a:p>
            <a:pPr algn="l"/>
            <a:r>
              <a:rPr lang="hu-HU" sz="2500" i="1" dirty="0">
                <a:solidFill>
                  <a:schemeClr val="tx1"/>
                </a:solidFill>
              </a:rPr>
              <a:t>A </a:t>
            </a:r>
            <a:r>
              <a:rPr lang="hu-HU" sz="2500" i="1" dirty="0" err="1">
                <a:solidFill>
                  <a:schemeClr val="tx1"/>
                </a:solidFill>
              </a:rPr>
              <a:t>biostatisztika</a:t>
            </a:r>
            <a:r>
              <a:rPr lang="hu-HU" sz="2500" i="1" dirty="0">
                <a:solidFill>
                  <a:schemeClr val="tx1"/>
                </a:solidFill>
              </a:rPr>
              <a:t> és a </a:t>
            </a:r>
            <a:r>
              <a:rPr lang="hu-HU" sz="2500" i="1" dirty="0" err="1">
                <a:solidFill>
                  <a:schemeClr val="tx1"/>
                </a:solidFill>
              </a:rPr>
              <a:t>biostatisztikus</a:t>
            </a:r>
            <a:r>
              <a:rPr lang="hu-HU" sz="2500" i="1" dirty="0">
                <a:solidFill>
                  <a:schemeClr val="tx1"/>
                </a:solidFill>
              </a:rPr>
              <a:t> szerepe</a:t>
            </a:r>
            <a:br>
              <a:rPr lang="hu-HU" sz="2500" i="1" dirty="0">
                <a:solidFill>
                  <a:schemeClr val="tx1"/>
                </a:solidFill>
              </a:rPr>
            </a:br>
            <a:r>
              <a:rPr lang="hu-HU" sz="2500" i="1" dirty="0">
                <a:solidFill>
                  <a:schemeClr val="tx1"/>
                </a:solidFill>
              </a:rPr>
              <a:t> a klinikai </a:t>
            </a:r>
            <a:r>
              <a:rPr lang="hu-HU" sz="2500" i="1" dirty="0" err="1">
                <a:solidFill>
                  <a:schemeClr val="tx1"/>
                </a:solidFill>
              </a:rPr>
              <a:t>vizsgálatoban</a:t>
            </a:r>
            <a:endParaRPr lang="hu-HU" sz="2500" i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4B2AA-B743-4DD5-8B4B-9B6D8F187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9209" y="5733256"/>
            <a:ext cx="5732780" cy="1124744"/>
          </a:xfrm>
        </p:spPr>
        <p:txBody>
          <a:bodyPr/>
          <a:lstStyle/>
          <a:p>
            <a:pPr marL="0" indent="0">
              <a:buNone/>
            </a:pPr>
            <a:r>
              <a:rPr lang="hu-HU" sz="2000" i="1" dirty="0">
                <a:solidFill>
                  <a:schemeClr val="tx1"/>
                </a:solidFill>
              </a:rPr>
              <a:t>Dr. Kiss Márton - KFFO</a:t>
            </a:r>
          </a:p>
          <a:p>
            <a:pPr marL="0" indent="0">
              <a:buNone/>
            </a:pPr>
            <a:r>
              <a:rPr lang="hu-HU" sz="2000" i="1" dirty="0">
                <a:solidFill>
                  <a:schemeClr val="tx1"/>
                </a:solidFill>
              </a:rPr>
              <a:t>Klinikai Vizsgálati Témafelelős</a:t>
            </a:r>
          </a:p>
          <a:p>
            <a:pPr marL="0" indent="0">
              <a:buNone/>
            </a:pPr>
            <a:r>
              <a:rPr lang="hu-HU" sz="2000" i="1" dirty="0">
                <a:solidFill>
                  <a:schemeClr val="tx1"/>
                </a:solidFill>
              </a:rPr>
              <a:t>2019.11.11.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B56FC-023D-4B2A-8FED-750959A9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8151D-7721-45B5-B55C-12DC21E2FD7B}" type="slidenum">
              <a:rPr lang="hu-HU" altLang="hu-HU" smtClean="0"/>
              <a:pPr>
                <a:defRPr/>
              </a:pPr>
              <a:t>1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997552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hu-HU"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Háttér</a:t>
            </a:r>
            <a:endParaRPr lang="en-US" sz="24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3415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2018.09-ében indult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az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Állatorvostudományi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Egyetemen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egy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hu-HU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postgrad</a:t>
            </a:r>
            <a:r>
              <a:rPr lang="hu-HU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biostat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hu-HU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épzés</a:t>
            </a:r>
            <a:endParaRPr lang="en-US"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Biomat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Tanszék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szervezésében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4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szemeszter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levelező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szakon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„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alkalmazott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biostatisztikus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”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végzettséget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adva</a:t>
            </a:r>
            <a:endParaRPr lang="en-US"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kb. 25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diák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b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orvos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biológus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gyógyszerész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b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matematikus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egyetemekről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b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OGYÉI-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től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Richtertől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CROk-tól</a:t>
            </a:r>
            <a:endParaRPr lang="en-US"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Eddigi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jegyeim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job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oldalon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…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61D626A5-1595-49DE-89C7-5903EA46D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322" y="2229288"/>
            <a:ext cx="4688077" cy="2238556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hu-HU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hu-HU" altLang="hu-HU" sz="2400" b="1" dirty="0">
                <a:latin typeface="+mj-lt"/>
                <a:ea typeface="+mj-ea"/>
                <a:cs typeface="+mj-cs"/>
              </a:rPr>
              <a:t>Definíció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34156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Tágabb értelemben </a:t>
            </a:r>
            <a:r>
              <a:rPr lang="hu-HU" sz="14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kérdések </a:t>
            </a: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megválaszolására kutatás(oka)t végzünk, miközben </a:t>
            </a:r>
            <a:r>
              <a:rPr lang="hu-HU" sz="14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adatokat </a:t>
            </a: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gyűjtünk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/>
              <a:t>Az adatok legtöbbször </a:t>
            </a:r>
            <a:r>
              <a:rPr lang="hu-HU" sz="1400" u="sng" dirty="0"/>
              <a:t>számok</a:t>
            </a:r>
            <a:r>
              <a:rPr lang="hu-HU" sz="1400" dirty="0"/>
              <a:t> formájában gyűjtődnek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/>
              <a:t>(Nem ebből következik, de…) </a:t>
            </a:r>
            <a:br>
              <a:rPr lang="hu-HU" sz="1400" dirty="0"/>
            </a:br>
            <a:r>
              <a:rPr lang="hu-HU" sz="1400" dirty="0"/>
              <a:t>a statisztikát a </a:t>
            </a:r>
            <a:r>
              <a:rPr lang="hu-HU" sz="1400" u="sng" dirty="0"/>
              <a:t>matematika</a:t>
            </a:r>
            <a:r>
              <a:rPr lang="hu-HU" sz="1400" dirty="0"/>
              <a:t> altudományának tekinthetjük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/>
              <a:t>A definícióból hiányzik az </a:t>
            </a:r>
            <a:r>
              <a:rPr lang="hu-HU" sz="1400" b="1" dirty="0"/>
              <a:t>igazság</a:t>
            </a:r>
            <a:r>
              <a:rPr lang="hu-HU" sz="1400" dirty="0"/>
              <a:t> és a </a:t>
            </a:r>
            <a:r>
              <a:rPr lang="hu-HU" sz="1400" b="1" dirty="0"/>
              <a:t>következmények</a:t>
            </a:r>
            <a:r>
              <a:rPr lang="hu-HU" sz="1400" dirty="0"/>
              <a:t> tárgyalása (talán nem véletlenül)</a:t>
            </a:r>
          </a:p>
        </p:txBody>
      </p:sp>
      <p:pic>
        <p:nvPicPr>
          <p:cNvPr id="1026" name="Picture 2" descr="Image result for wikipedia logo">
            <a:extLst>
              <a:ext uri="{FF2B5EF4-FFF2-40B4-BE49-F238E27FC236}">
                <a16:creationId xmlns:a16="http://schemas.microsoft.com/office/drawing/2014/main" id="{673A3FD1-5F69-4322-BA19-88EA8AB4E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764704"/>
            <a:ext cx="2522981" cy="2302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7E6323F-4FAB-4400-A639-EEB83453D3D6}"/>
              </a:ext>
            </a:extLst>
          </p:cNvPr>
          <p:cNvSpPr/>
          <p:nvPr/>
        </p:nvSpPr>
        <p:spPr>
          <a:xfrm>
            <a:off x="4139952" y="3429000"/>
            <a:ext cx="4572000" cy="2416046"/>
          </a:xfrm>
          <a:prstGeom prst="rect">
            <a:avLst/>
          </a:prstGeom>
        </p:spPr>
        <p:txBody>
          <a:bodyPr>
            <a:spAutoFit/>
          </a:bodyPr>
          <a:lstStyle/>
          <a:p>
            <a:pPr marL="57150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„</a:t>
            </a:r>
            <a:r>
              <a: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Statistics is the discipline that concerns the collection, organization, </a:t>
            </a:r>
            <a:endParaRPr lang="hu-HU" sz="2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displaying, </a:t>
            </a:r>
            <a:endParaRPr lang="hu-HU" sz="2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analysis, </a:t>
            </a:r>
            <a:endParaRPr lang="hu-HU" sz="2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and </a:t>
            </a:r>
            <a:endParaRPr lang="hu-HU" sz="2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</a:t>
            </a:r>
            <a:endParaRPr lang="hu-HU" sz="2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data.</a:t>
            </a:r>
            <a:r>
              <a:rPr lang="hu-HU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52943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hu-HU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hu-HU" altLang="hu-HU" sz="2400" b="1" dirty="0">
                <a:latin typeface="+mj-lt"/>
                <a:ea typeface="+mj-ea"/>
                <a:cs typeface="+mj-cs"/>
              </a:rPr>
              <a:t>Az adattábla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341562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gyűjtött adatokat „tanácsos” egy 2D-s táblázatba gyűjteni, ez az </a:t>
            </a:r>
            <a:r>
              <a:rPr lang="hu-HU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adattábla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100" dirty="0"/>
              <a:t>Megállapítandó a </a:t>
            </a:r>
            <a:r>
              <a:rPr lang="hu-HU" sz="1100" b="1" dirty="0"/>
              <a:t>megfigyelési egység</a:t>
            </a:r>
            <a:r>
              <a:rPr lang="hu-HU" sz="1100" dirty="0"/>
              <a:t>, amin esetleg több megfigyelést végzünk</a:t>
            </a:r>
          </a:p>
          <a:p>
            <a:pPr marL="57150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1100" i="1" dirty="0"/>
              <a:t>Pl. három erdőben végeztünk 3x100 db megfigyelést, a </a:t>
            </a:r>
            <a:r>
              <a:rPr lang="hu-HU" sz="1100" i="1" dirty="0" err="1"/>
              <a:t>mf.egység</a:t>
            </a:r>
            <a:r>
              <a:rPr lang="hu-HU" sz="1100" i="1" dirty="0"/>
              <a:t> az erdő; disznóólanként néztük a fertőzött állatok számát, a </a:t>
            </a:r>
            <a:r>
              <a:rPr lang="hu-HU" sz="1100" i="1" dirty="0" err="1"/>
              <a:t>mf.egység</a:t>
            </a:r>
            <a:r>
              <a:rPr lang="hu-HU" sz="1100" i="1" dirty="0"/>
              <a:t> a disznóól, 10 patkányon végeztünk havonta méréseket, a </a:t>
            </a:r>
            <a:r>
              <a:rPr lang="hu-HU" sz="1100" i="1" dirty="0" err="1"/>
              <a:t>mf.egység</a:t>
            </a:r>
            <a:r>
              <a:rPr lang="hu-HU" sz="1100" i="1" dirty="0"/>
              <a:t> a patkány, stb.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100" dirty="0"/>
              <a:t>Ennek megfelelően két gyakori formátum az ún. </a:t>
            </a:r>
            <a:r>
              <a:rPr lang="hu-HU" sz="1100" b="1" dirty="0" err="1"/>
              <a:t>wide</a:t>
            </a:r>
            <a:r>
              <a:rPr lang="hu-HU" sz="1100" b="1" dirty="0"/>
              <a:t> </a:t>
            </a:r>
            <a:r>
              <a:rPr lang="hu-HU" sz="1100" dirty="0"/>
              <a:t>és </a:t>
            </a:r>
            <a:r>
              <a:rPr lang="hu-HU" sz="1100" b="1" dirty="0" err="1"/>
              <a:t>long</a:t>
            </a:r>
            <a:r>
              <a:rPr lang="hu-HU" sz="1100" dirty="0"/>
              <a:t> 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100" dirty="0"/>
              <a:t>Általános a .</a:t>
            </a:r>
            <a:r>
              <a:rPr lang="hu-HU" sz="1100" dirty="0" err="1"/>
              <a:t>csv</a:t>
            </a:r>
            <a:r>
              <a:rPr lang="hu-HU" sz="1100" dirty="0"/>
              <a:t> kiterjesztés, amit az </a:t>
            </a:r>
            <a:r>
              <a:rPr lang="hu-HU" sz="1100" dirty="0" err="1"/>
              <a:t>excell</a:t>
            </a:r>
            <a:r>
              <a:rPr lang="hu-HU" sz="1100" dirty="0"/>
              <a:t>-lel is módosíthatunk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100" dirty="0"/>
              <a:t> Ökölszabályként az oszlopokat egyértelmű névvel látjuk el, és az adattáblához megad(hat)</a:t>
            </a:r>
            <a:r>
              <a:rPr lang="hu-HU" sz="1100" dirty="0" err="1"/>
              <a:t>unk</a:t>
            </a:r>
            <a:r>
              <a:rPr lang="hu-HU" sz="1100" dirty="0"/>
              <a:t> egy rövid leírást is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95B3F7-281F-4A69-A94D-6AE67B1A8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466" y="332656"/>
            <a:ext cx="5027817" cy="13681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F0CE28-2F24-4675-A136-D3D7FD56C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923" y="2702620"/>
            <a:ext cx="2078229" cy="345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00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hu-HU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hu-HU" altLang="hu-HU" sz="2400" b="1" dirty="0">
                <a:latin typeface="+mj-lt"/>
                <a:ea typeface="+mj-ea"/>
                <a:cs typeface="+mj-cs"/>
              </a:rPr>
              <a:t>Leíró statisztikák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388730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Amíg a véletlent nem vonjuk bele a vizsgálódásainkba, ún. leíró statisztikákat készítünk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Ezek mindig a mintánkra </a:t>
            </a:r>
            <a:r>
              <a:rPr lang="hu-HU" sz="1400" dirty="0" err="1">
                <a:latin typeface="+mn-lt"/>
                <a:cs typeface="+mn-cs"/>
              </a:rPr>
              <a:t>vonatloznak</a:t>
            </a:r>
            <a:r>
              <a:rPr lang="hu-HU" sz="1400" dirty="0">
                <a:latin typeface="+mn-lt"/>
                <a:cs typeface="+mn-cs"/>
              </a:rPr>
              <a:t> („vitán felül állnak” az eredményeink)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mérési eredményeinket ábrázolhatjuk </a:t>
            </a:r>
            <a:r>
              <a:rPr lang="hu-HU" sz="1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hisztogrammon</a:t>
            </a:r>
            <a:endParaRPr lang="hu-HU" sz="1400" dirty="0">
              <a:latin typeface="+mn-lt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Ez az adatok kilistázása után a legrészletesebb ábrázolása az adatoknak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Leolvasható róla a mért értékek kísérleten alapuló (</a:t>
            </a:r>
            <a:r>
              <a:rPr lang="hu-HU" sz="1400" dirty="0" err="1">
                <a:latin typeface="+mn-lt"/>
                <a:cs typeface="+mn-cs"/>
              </a:rPr>
              <a:t>empírikus</a:t>
            </a:r>
            <a:r>
              <a:rPr lang="hu-HU" sz="1400" dirty="0">
                <a:latin typeface="+mn-lt"/>
                <a:cs typeface="+mn-cs"/>
              </a:rPr>
              <a:t>) eloszlása (nagyjából, ld. még </a:t>
            </a:r>
            <a:r>
              <a:rPr lang="hu-HU" sz="1400" dirty="0" err="1">
                <a:latin typeface="+mn-lt"/>
                <a:cs typeface="+mn-cs"/>
              </a:rPr>
              <a:t>későb</a:t>
            </a:r>
            <a:r>
              <a:rPr lang="hu-HU" sz="1400" dirty="0">
                <a:latin typeface="+mn-lt"/>
                <a:cs typeface="+mn-cs"/>
              </a:rPr>
              <a:t>…)</a:t>
            </a:r>
            <a:endParaRPr lang="en-US" sz="1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2E695ACE-52AA-402F-A001-28D792FF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260648"/>
            <a:ext cx="2495550" cy="3257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95642B-5659-4A7D-AF0E-8FE29A964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388" y="4230626"/>
            <a:ext cx="5780222" cy="262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15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hu-HU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hu-HU" altLang="hu-HU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Fontosabb leíró s</a:t>
            </a:r>
            <a:r>
              <a:rPr lang="hu-HU" altLang="hu-HU" sz="2400" b="1" dirty="0">
                <a:latin typeface="+mj-lt"/>
                <a:ea typeface="+mj-ea"/>
                <a:cs typeface="+mj-cs"/>
              </a:rPr>
              <a:t>tatisztikák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Átlag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a változók összege/elemszám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b="1" dirty="0">
                <a:latin typeface="+mn-lt"/>
                <a:cs typeface="+mn-cs"/>
              </a:rPr>
              <a:t>Medián</a:t>
            </a:r>
            <a:r>
              <a:rPr lang="hu-HU" sz="1200" dirty="0">
                <a:latin typeface="+mn-lt"/>
                <a:cs typeface="+mn-cs"/>
              </a:rPr>
              <a:t> – sorba rendezett adatok közül a középső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Szórás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</a:t>
            </a:r>
            <a:r>
              <a:rPr lang="hu-HU" sz="1200" dirty="0">
                <a:latin typeface="+mn-lt"/>
                <a:cs typeface="+mn-cs"/>
              </a:rPr>
              <a:t>az eloszlás második momentumának a </a:t>
            </a:r>
            <a:r>
              <a:rPr lang="hu-HU" sz="1200" dirty="0" err="1">
                <a:latin typeface="+mn-lt"/>
                <a:cs typeface="+mn-cs"/>
              </a:rPr>
              <a:t>négízetgyöke</a:t>
            </a:r>
            <a:r>
              <a:rPr lang="hu-HU" sz="1200" dirty="0">
                <a:latin typeface="+mn-lt"/>
                <a:cs typeface="+mn-cs"/>
              </a:rPr>
              <a:t> (ld. később…)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Percentilisek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kvantilisek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– a minta ‚X’%-</a:t>
            </a:r>
            <a:r>
              <a:rPr lang="hu-HU" sz="1200" dirty="0">
                <a:latin typeface="+mn-lt"/>
                <a:cs typeface="+mn-cs"/>
              </a:rPr>
              <a:t>a kisebb az adott értéknél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Boxplot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gyakori ábrázolás, </a:t>
            </a:r>
            <a:r>
              <a:rPr lang="hu-HU" sz="1200" dirty="0">
                <a:latin typeface="+mn-lt"/>
                <a:cs typeface="+mn-cs"/>
              </a:rPr>
              <a:t>nincs egységes definíció, általában medián + IQR </a:t>
            </a:r>
            <a:br>
              <a:rPr lang="hu-HU" sz="1200" dirty="0">
                <a:latin typeface="+mn-lt"/>
                <a:cs typeface="+mn-cs"/>
              </a:rPr>
            </a:br>
            <a:r>
              <a:rPr lang="hu-HU" sz="1200" dirty="0">
                <a:latin typeface="+mn-lt"/>
                <a:cs typeface="+mn-cs"/>
              </a:rPr>
              <a:t>+ 1.5 IQR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5-6-7 pontos jellemzések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</a:t>
            </a:r>
            <a:b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gyakori, medián + 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kvartilisek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kiírása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87903D-4680-476D-8BF1-C1B060493AD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488182" y="2234477"/>
            <a:ext cx="5476306" cy="13601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A43A83-263E-40C0-8904-609F964C1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8" y="188640"/>
            <a:ext cx="5328592" cy="2422088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24E4235F-D05C-4ED6-A43B-18AAB7CF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181" y="4194900"/>
            <a:ext cx="3490722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summary(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ex.hist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) </a:t>
            </a:r>
            <a:endParaRPr kumimoji="0" lang="hu-HU" altLang="en-US" sz="10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Lucida Console" panose="020B0609040504020204" pitchFamily="49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Min.</a:t>
            </a:r>
            <a:r>
              <a:rPr kumimoji="0" lang="hu-HU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1st Qu. Median Mean </a:t>
            </a:r>
            <a:r>
              <a:rPr kumimoji="0" lang="hu-HU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3rd Qu. Max.</a:t>
            </a:r>
            <a:br>
              <a:rPr kumimoji="0" lang="hu-HU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100.7 106.7 </a:t>
            </a:r>
            <a:r>
              <a:rPr kumimoji="0" lang="hu-HU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123.3</a:t>
            </a:r>
            <a:r>
              <a:rPr kumimoji="0" lang="hu-HU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121.7 132.4 </a:t>
            </a:r>
            <a:r>
              <a:rPr kumimoji="0" lang="hu-HU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149.6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BEB314-2FDF-4A8E-8FDA-C2DF295BC1B9}"/>
              </a:ext>
            </a:extLst>
          </p:cNvPr>
          <p:cNvSpPr/>
          <p:nvPr/>
        </p:nvSpPr>
        <p:spPr>
          <a:xfrm>
            <a:off x="3431461" y="5517232"/>
            <a:ext cx="4443638" cy="840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"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i="1" dirty="0">
                <a:solidFill>
                  <a:schemeClr val="bg1"/>
                </a:solidFill>
              </a:rPr>
              <a:t>Ezek általános módszerek, amennyiben ismert az eloszlás/problematika, a különböző mutatók jelentősége változhat!</a:t>
            </a:r>
            <a:endParaRPr lang="en-US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37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Abszolút/relatív mutatók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A kívánt mutatók meghatározása sokszor nem könnyű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Általá</a:t>
            </a:r>
            <a:r>
              <a:rPr lang="hu-HU" sz="1400" dirty="0">
                <a:latin typeface="+mn-lt"/>
                <a:cs typeface="+mn-cs"/>
              </a:rPr>
              <a:t>ban könnyű dolgunk van, ha a már bevett konvenciókat követjük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Az ab</a:t>
            </a:r>
            <a:r>
              <a:rPr lang="hu-HU" sz="1400" dirty="0">
                <a:latin typeface="+mn-lt"/>
                <a:cs typeface="+mn-cs"/>
              </a:rPr>
              <a:t>szolút mutatókat meghatározni kínos dolog (</a:t>
            </a:r>
            <a:r>
              <a:rPr lang="hu-HU" sz="1400" dirty="0" err="1">
                <a:latin typeface="+mn-lt"/>
                <a:cs typeface="+mn-cs"/>
              </a:rPr>
              <a:t>put</a:t>
            </a:r>
            <a:r>
              <a:rPr lang="hu-HU" sz="1400" dirty="0">
                <a:latin typeface="+mn-lt"/>
                <a:cs typeface="+mn-cs"/>
              </a:rPr>
              <a:t> a line in </a:t>
            </a:r>
            <a:r>
              <a:rPr lang="hu-HU" sz="1400" dirty="0" err="1">
                <a:latin typeface="+mn-lt"/>
                <a:cs typeface="+mn-cs"/>
              </a:rPr>
              <a:t>the</a:t>
            </a:r>
            <a:r>
              <a:rPr lang="hu-HU" sz="1400" dirty="0">
                <a:latin typeface="+mn-lt"/>
                <a:cs typeface="+mn-cs"/>
              </a:rPr>
              <a:t> </a:t>
            </a:r>
            <a:r>
              <a:rPr lang="hu-HU" sz="1400" dirty="0" err="1">
                <a:latin typeface="+mn-lt"/>
                <a:cs typeface="+mn-cs"/>
              </a:rPr>
              <a:t>sand</a:t>
            </a:r>
            <a:r>
              <a:rPr lang="hu-HU" sz="1400" dirty="0">
                <a:latin typeface="+mn-lt"/>
                <a:cs typeface="+mn-cs"/>
              </a:rPr>
              <a:t>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relatív mutatók sokszor nehezen értelmezhetők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Egy ábra sokszor többet mond ezer szónál…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100" kern="1200" dirty="0">
                <a:solidFill>
                  <a:schemeClr val="tx1"/>
                </a:solidFill>
                <a:latin typeface="+mn-lt"/>
                <a:cs typeface="+mn-cs"/>
              </a:rPr>
              <a:t>(forrás: Wikipedia, </a:t>
            </a:r>
            <a:r>
              <a:rPr lang="hu-HU" sz="1100" kern="1200" dirty="0" err="1">
                <a:solidFill>
                  <a:schemeClr val="tx1"/>
                </a:solidFill>
                <a:latin typeface="+mn-lt"/>
                <a:cs typeface="+mn-cs"/>
              </a:rPr>
              <a:t>by</a:t>
            </a:r>
            <a:r>
              <a:rPr lang="hu-HU" sz="1100" kern="1200" dirty="0">
                <a:solidFill>
                  <a:schemeClr val="tx1"/>
                </a:solidFill>
                <a:latin typeface="+mn-lt"/>
                <a:cs typeface="+mn-cs"/>
              </a:rPr>
              <a:t> </a:t>
            </a:r>
            <a:r>
              <a:rPr lang="en-US" sz="1100" dirty="0"/>
              <a:t>Deanne Taylor</a:t>
            </a:r>
            <a:r>
              <a:rPr lang="hu-HU" sz="1100" dirty="0"/>
              <a:t>)</a:t>
            </a:r>
            <a:endParaRPr lang="hu-HU" sz="1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D4E444-FF4A-4CBA-86A9-F22B8E33A7E1}"/>
              </a:ext>
            </a:extLst>
          </p:cNvPr>
          <p:cNvSpPr/>
          <p:nvPr/>
        </p:nvSpPr>
        <p:spPr>
          <a:xfrm>
            <a:off x="8028384" y="188640"/>
            <a:ext cx="1008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(H,</a:t>
            </a:r>
            <a:r>
              <a:rPr lang="hu-HU" dirty="0">
                <a:solidFill>
                  <a:schemeClr val="bg1"/>
                </a:solidFill>
                <a:latin typeface="Blackadder ITC" panose="04020505051007020D02" pitchFamily="82" charset="0"/>
              </a:rPr>
              <a:t>A</a:t>
            </a:r>
            <a:r>
              <a:rPr lang="hu-HU" dirty="0">
                <a:solidFill>
                  <a:schemeClr val="bg1"/>
                </a:solidFill>
              </a:rPr>
              <a:t>,</a:t>
            </a:r>
            <a:r>
              <a:rPr lang="el-GR" dirty="0">
                <a:solidFill>
                  <a:schemeClr val="bg1"/>
                </a:solidFill>
              </a:rPr>
              <a:t>Θ</a:t>
            </a:r>
            <a:r>
              <a:rPr lang="hu-HU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51CC7CC-E96C-48A8-8E9B-512495FDD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908720"/>
            <a:ext cx="5140008" cy="4430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1FBE5F-2ED9-4E8B-AA34-41DD972B936F}"/>
              </a:ext>
            </a:extLst>
          </p:cNvPr>
          <p:cNvCxnSpPr/>
          <p:nvPr/>
        </p:nvCxnSpPr>
        <p:spPr>
          <a:xfrm flipH="1" flipV="1">
            <a:off x="6660232" y="373306"/>
            <a:ext cx="72008" cy="43524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8B1B66-8125-48AB-83A6-B39D5FD868CE}"/>
              </a:ext>
            </a:extLst>
          </p:cNvPr>
          <p:cNvCxnSpPr/>
          <p:nvPr/>
        </p:nvCxnSpPr>
        <p:spPr>
          <a:xfrm>
            <a:off x="4572000" y="2852936"/>
            <a:ext cx="47525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204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hu-HU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hu-HU" altLang="hu-HU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Eloszlás, sűrűség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Ugyanolyan módon, több mérést 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genrálva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hisztogram finomabb…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dirty="0">
                <a:latin typeface="+mn-lt"/>
                <a:cs typeface="+mn-cs"/>
              </a:rPr>
              <a:t>Tekintsük úgy, hogy ∞ elemű a mintám (tehát görbe lenne oszlopdiagram helyett) aminek a </a:t>
            </a:r>
            <a:r>
              <a:rPr lang="hu-HU" sz="1200" dirty="0" err="1">
                <a:latin typeface="+mn-lt"/>
                <a:cs typeface="+mn-cs"/>
              </a:rPr>
              <a:t>g.a.területe</a:t>
            </a:r>
            <a:r>
              <a:rPr lang="hu-HU" sz="1200" dirty="0">
                <a:latin typeface="+mn-lt"/>
                <a:cs typeface="+mn-cs"/>
              </a:rPr>
              <a:t> 1, és rajzoljuk fel ennek az integrálfüggvényét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hu-HU" sz="1200" dirty="0">
                <a:latin typeface="+mn-lt"/>
                <a:cs typeface="+mn-cs"/>
              </a:rPr>
              <a:t>z első görbe a minta(?) ún. </a:t>
            </a:r>
            <a:r>
              <a:rPr lang="hu-HU" sz="1200" b="1" dirty="0">
                <a:latin typeface="+mn-lt"/>
                <a:cs typeface="+mn-cs"/>
              </a:rPr>
              <a:t>sűrűségfüggvénye (</a:t>
            </a:r>
            <a:r>
              <a:rPr lang="hu-HU" sz="1200" b="1" dirty="0" err="1">
                <a:latin typeface="+mn-lt"/>
                <a:cs typeface="+mn-cs"/>
              </a:rPr>
              <a:t>probability</a:t>
            </a:r>
            <a:r>
              <a:rPr lang="hu-HU" sz="1200" b="1" dirty="0">
                <a:latin typeface="+mn-lt"/>
                <a:cs typeface="+mn-cs"/>
              </a:rPr>
              <a:t> </a:t>
            </a:r>
            <a:r>
              <a:rPr lang="hu-HU" sz="1200" b="1" dirty="0" err="1">
                <a:latin typeface="+mn-lt"/>
                <a:cs typeface="+mn-cs"/>
              </a:rPr>
              <a:t>density</a:t>
            </a:r>
            <a:r>
              <a:rPr lang="hu-HU" sz="1200" b="1" dirty="0">
                <a:latin typeface="+mn-lt"/>
                <a:cs typeface="+mn-cs"/>
              </a:rPr>
              <a:t> </a:t>
            </a:r>
            <a:r>
              <a:rPr lang="hu-HU" sz="1200" b="1" dirty="0" err="1">
                <a:latin typeface="+mn-lt"/>
                <a:cs typeface="+mn-cs"/>
              </a:rPr>
              <a:t>function</a:t>
            </a:r>
            <a:r>
              <a:rPr lang="hu-HU" sz="1200" b="1" dirty="0">
                <a:latin typeface="+mn-lt"/>
                <a:cs typeface="+mn-cs"/>
              </a:rPr>
              <a:t>, pdf)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második a minta(?) </a:t>
            </a:r>
            <a:r>
              <a:rPr lang="hu-H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eloszlásfüggvénye (</a:t>
            </a:r>
            <a:r>
              <a:rPr lang="hu-H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cumulative</a:t>
            </a:r>
            <a:r>
              <a:rPr lang="hu-H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hu-H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density</a:t>
            </a:r>
            <a:r>
              <a:rPr lang="hu-H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hu-H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</a:t>
            </a:r>
            <a:r>
              <a:rPr lang="hu-H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hu-H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cdf</a:t>
            </a:r>
            <a:r>
              <a:rPr lang="hu-H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dirty="0">
                <a:latin typeface="+mn-lt"/>
                <a:cs typeface="+mn-cs"/>
              </a:rPr>
              <a:t>A hisztogrammal voltaképpen a sűrűségfüggvényt „udvaroltuk” korábban is, a </a:t>
            </a:r>
            <a:r>
              <a:rPr lang="hu-HU" sz="1200" dirty="0" err="1">
                <a:latin typeface="+mn-lt"/>
                <a:cs typeface="+mn-cs"/>
              </a:rPr>
              <a:t>kvantilisek</a:t>
            </a:r>
            <a:r>
              <a:rPr lang="hu-HU" sz="1200" dirty="0">
                <a:latin typeface="+mn-lt"/>
                <a:cs typeface="+mn-cs"/>
              </a:rPr>
              <a:t> (talán) szebben leolvashatók az </a:t>
            </a:r>
            <a:r>
              <a:rPr lang="hu-HU" sz="1200" dirty="0" err="1">
                <a:latin typeface="+mn-lt"/>
                <a:cs typeface="+mn-cs"/>
              </a:rPr>
              <a:t>elo.függvényről</a:t>
            </a:r>
            <a:endParaRPr lang="hu-H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CA403C-F612-4890-BB7D-E16FC7088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1044000"/>
            <a:ext cx="5246933" cy="411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4033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hu-HU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hu-HU" altLang="hu-HU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Eloszlás, sűrűség II.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Példa: Két, 20 fős minta, átlag-szórás-2*SD, </a:t>
            </a:r>
            <a:r>
              <a:rPr lang="hu-HU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boxplotokkal</a:t>
            </a:r>
            <a:endParaRPr lang="hu-HU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A kék minta hisztogramja, számított sűrűségfüggvénye (simított hisztogram)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600" dirty="0">
              <a:latin typeface="+mn-lt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kék minta empirikus eloszlásfüggvénye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600" dirty="0">
              <a:latin typeface="+mn-lt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kék minta „normalitás vizsgálata” – QQ </a:t>
            </a:r>
            <a:r>
              <a:rPr lang="hu-HU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plot</a:t>
            </a:r>
            <a:endParaRPr lang="hu-HU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4E25EA-DB42-4FE5-9201-4CBB528A7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022" y="612712"/>
            <a:ext cx="5630978" cy="616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05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Normális eloszlás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Ismételjük meg a kék minta vételét (itt 1000x)!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Bár az </a:t>
            </a:r>
            <a:r>
              <a:rPr lang="hu-HU" sz="1600" b="1" dirty="0">
                <a:latin typeface="+mn-lt"/>
                <a:cs typeface="+mn-cs"/>
              </a:rPr>
              <a:t>egyedi értékek</a:t>
            </a:r>
            <a:r>
              <a:rPr lang="hu-HU" sz="1600" dirty="0">
                <a:latin typeface="+mn-lt"/>
                <a:cs typeface="+mn-cs"/>
              </a:rPr>
              <a:t> „zöme” -4;0 között helyezkedik el, az </a:t>
            </a:r>
            <a:r>
              <a:rPr lang="hu-HU" sz="1600" b="1" dirty="0">
                <a:latin typeface="+mn-lt"/>
                <a:cs typeface="+mn-cs"/>
              </a:rPr>
              <a:t>átlagaik</a:t>
            </a:r>
            <a:r>
              <a:rPr lang="hu-HU" sz="1600" dirty="0">
                <a:latin typeface="+mn-lt"/>
                <a:cs typeface="+mn-cs"/>
              </a:rPr>
              <a:t> jóval összetartóbbak.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Az átlagok (mindig!) ún. </a:t>
            </a:r>
            <a:r>
              <a:rPr lang="hu-H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normális eloszláshoz</a:t>
            </a: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tartanak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Ez a központi határeloszlás tétel (</a:t>
            </a:r>
            <a:r>
              <a:rPr lang="hu-HU" sz="1600" dirty="0" err="1">
                <a:latin typeface="+mn-lt"/>
                <a:cs typeface="+mn-cs"/>
              </a:rPr>
              <a:t>central</a:t>
            </a:r>
            <a:r>
              <a:rPr lang="hu-HU" sz="1600" dirty="0">
                <a:latin typeface="+mn-lt"/>
                <a:cs typeface="+mn-cs"/>
              </a:rPr>
              <a:t> limit </a:t>
            </a:r>
            <a:r>
              <a:rPr lang="hu-HU" sz="1600" dirty="0" err="1">
                <a:latin typeface="+mn-lt"/>
                <a:cs typeface="+mn-cs"/>
              </a:rPr>
              <a:t>theorem</a:t>
            </a:r>
            <a:r>
              <a:rPr lang="hu-HU" sz="1600" dirty="0">
                <a:latin typeface="+mn-lt"/>
                <a:cs typeface="+mn-cs"/>
              </a:rPr>
              <a:t>, </a:t>
            </a:r>
            <a:r>
              <a:rPr lang="hu-HU" sz="1600" b="1" dirty="0">
                <a:latin typeface="+mn-lt"/>
                <a:cs typeface="+mn-cs"/>
              </a:rPr>
              <a:t>CLT</a:t>
            </a:r>
            <a:r>
              <a:rPr lang="hu-HU" sz="1600" dirty="0">
                <a:latin typeface="+mn-lt"/>
                <a:cs typeface="+mn-cs"/>
              </a:rPr>
              <a:t>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Ezen alapul a </a:t>
            </a:r>
            <a:r>
              <a:rPr lang="hu-H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 </a:t>
            </a: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(átlag szórása), ami a </a:t>
            </a:r>
            <a:r>
              <a:rPr lang="hu-HU" sz="16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minta szórása/gyök(n) </a:t>
            </a: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alakú.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795AE9-96BA-4CA5-99CD-FE5EDE52D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182" y="0"/>
            <a:ext cx="53208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C2A6D8-41E8-44B3-8AB1-96797886F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612" y="4365104"/>
            <a:ext cx="2283336" cy="19620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1535EB-CC40-49B7-AE18-87EE8F1EB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279" y="4725709"/>
            <a:ext cx="17811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610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Normális eloszlás II.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normális eloszlás „felüti a fejét” sok „közönséges” esetben is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Két </a:t>
            </a:r>
            <a:r>
              <a:rPr lang="hu-HU" sz="1600" b="1" dirty="0">
                <a:latin typeface="+mn-lt"/>
                <a:cs typeface="+mn-cs"/>
              </a:rPr>
              <a:t>paramétere </a:t>
            </a:r>
            <a:r>
              <a:rPr lang="hu-HU" sz="1600" dirty="0">
                <a:latin typeface="+mn-lt"/>
                <a:cs typeface="+mn-cs"/>
              </a:rPr>
              <a:t>van, az átlag, és a szórás (</a:t>
            </a:r>
            <a:r>
              <a:rPr lang="el-GR" sz="1600" b="1" dirty="0">
                <a:latin typeface="+mn-lt"/>
                <a:cs typeface="+mn-cs"/>
              </a:rPr>
              <a:t>μ</a:t>
            </a:r>
            <a:r>
              <a:rPr lang="hu-HU" sz="1600" dirty="0">
                <a:latin typeface="+mn-lt"/>
                <a:cs typeface="+mn-cs"/>
              </a:rPr>
              <a:t>,</a:t>
            </a:r>
            <a:r>
              <a:rPr lang="el-GR" sz="1600" b="1" dirty="0">
                <a:latin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hu-HU" sz="1600" dirty="0">
                <a:latin typeface="+mn-lt"/>
                <a:cs typeface="+mn-cs"/>
              </a:rPr>
              <a:t>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Kvázi az első két momentuma határozza meg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Amikor becsléseket közlünk, nekünk is </a:t>
            </a:r>
            <a:r>
              <a:rPr lang="hu-HU" sz="1600" dirty="0">
                <a:latin typeface="+mn-lt"/>
                <a:cs typeface="+mn-cs"/>
              </a:rPr>
              <a:t>a </a:t>
            </a:r>
            <a:r>
              <a:rPr lang="hu-HU" sz="1600" b="1" dirty="0">
                <a:latin typeface="+mn-lt"/>
                <a:cs typeface="+mn-cs"/>
              </a:rPr>
              <a:t>becslést</a:t>
            </a:r>
            <a:r>
              <a:rPr lang="hu-HU" sz="1600" dirty="0">
                <a:latin typeface="+mn-lt"/>
                <a:cs typeface="+mn-cs"/>
              </a:rPr>
              <a:t>, illetve annak </a:t>
            </a:r>
            <a:r>
              <a:rPr lang="hu-HU" sz="1600" b="1" dirty="0">
                <a:latin typeface="+mn-lt"/>
                <a:cs typeface="+mn-cs"/>
              </a:rPr>
              <a:t>bizonytalanságát</a:t>
            </a:r>
            <a:r>
              <a:rPr lang="hu-HU" sz="1600" dirty="0">
                <a:latin typeface="+mn-lt"/>
                <a:cs typeface="+mn-cs"/>
              </a:rPr>
              <a:t> kell közöljük</a:t>
            </a:r>
            <a:endParaRPr lang="hu-HU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Itt lehetnek még nehézségek…(ld. </a:t>
            </a:r>
            <a:r>
              <a:rPr lang="hu-HU" sz="1600" dirty="0">
                <a:latin typeface="+mn-lt"/>
                <a:cs typeface="+mn-cs"/>
              </a:rPr>
              <a:t>piros becslés)</a:t>
            </a:r>
            <a:endParaRPr lang="hu-HU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EBFB11-0AAB-43BE-94B8-946028BF7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398" y="4513773"/>
            <a:ext cx="5013702" cy="234459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46C2E03-2986-487B-91D0-92A216B4A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807105"/>
              </p:ext>
            </p:extLst>
          </p:nvPr>
        </p:nvGraphicFramePr>
        <p:xfrm>
          <a:off x="3496566" y="2476808"/>
          <a:ext cx="4412704" cy="1187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2887">
                  <a:extLst>
                    <a:ext uri="{9D8B030D-6E8A-4147-A177-3AD203B41FA5}">
                      <a16:colId xmlns:a16="http://schemas.microsoft.com/office/drawing/2014/main" val="2609509662"/>
                    </a:ext>
                  </a:extLst>
                </a:gridCol>
                <a:gridCol w="1721623">
                  <a:extLst>
                    <a:ext uri="{9D8B030D-6E8A-4147-A177-3AD203B41FA5}">
                      <a16:colId xmlns:a16="http://schemas.microsoft.com/office/drawing/2014/main" val="2327634941"/>
                    </a:ext>
                  </a:extLst>
                </a:gridCol>
                <a:gridCol w="1688194">
                  <a:extLst>
                    <a:ext uri="{9D8B030D-6E8A-4147-A177-3AD203B41FA5}">
                      <a16:colId xmlns:a16="http://schemas.microsoft.com/office/drawing/2014/main" val="370117350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Momentum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Centrális</a:t>
                      </a:r>
                      <a:r>
                        <a:rPr lang="en-US" sz="1100" u="none" strike="noStrike" dirty="0">
                          <a:effectLst/>
                        </a:rPr>
                        <a:t> momentum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Jelentés (sárga)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37811798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E[X]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E[X-</a:t>
                      </a:r>
                      <a:r>
                        <a:rPr lang="el-GR" sz="1100" u="none" strike="noStrike">
                          <a:effectLst/>
                        </a:rPr>
                        <a:t>μ]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Átlag (populációra </a:t>
                      </a:r>
                      <a:r>
                        <a:rPr lang="el-GR" sz="1100" u="none" strike="noStrike">
                          <a:effectLst/>
                        </a:rPr>
                        <a:t>μ)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674044259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E[X</a:t>
                      </a:r>
                      <a:r>
                        <a:rPr lang="en-US" sz="1100" u="none" strike="noStrike" baseline="30000">
                          <a:effectLst/>
                        </a:rPr>
                        <a:t>2</a:t>
                      </a:r>
                      <a:r>
                        <a:rPr lang="en-US" sz="1100" u="none" strike="noStrike">
                          <a:effectLst/>
                        </a:rPr>
                        <a:t>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E[(X-</a:t>
                      </a:r>
                      <a:r>
                        <a:rPr lang="el-GR" sz="1100" u="none" strike="noStrike">
                          <a:effectLst/>
                        </a:rPr>
                        <a:t>μ)</a:t>
                      </a:r>
                      <a:r>
                        <a:rPr lang="el-GR" sz="1100" u="none" strike="noStrike" baseline="30000">
                          <a:effectLst/>
                        </a:rPr>
                        <a:t>2</a:t>
                      </a:r>
                      <a:r>
                        <a:rPr lang="el-GR" sz="1100" u="none" strike="noStrike">
                          <a:effectLst/>
                        </a:rPr>
                        <a:t>]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Variancia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766518004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E[X</a:t>
                      </a:r>
                      <a:r>
                        <a:rPr lang="en-US" sz="1100" u="none" strike="noStrike" baseline="30000">
                          <a:effectLst/>
                        </a:rPr>
                        <a:t>3</a:t>
                      </a:r>
                      <a:r>
                        <a:rPr lang="en-US" sz="1100" u="none" strike="noStrike">
                          <a:effectLst/>
                        </a:rPr>
                        <a:t>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E[(X-</a:t>
                      </a:r>
                      <a:r>
                        <a:rPr lang="el-GR" sz="1100" u="none" strike="noStrike">
                          <a:effectLst/>
                        </a:rPr>
                        <a:t>μ)</a:t>
                      </a:r>
                      <a:r>
                        <a:rPr lang="el-GR" sz="1100" u="none" strike="noStrike" baseline="30000">
                          <a:effectLst/>
                        </a:rPr>
                        <a:t>3</a:t>
                      </a:r>
                      <a:r>
                        <a:rPr lang="el-GR" sz="1100" u="none" strike="noStrike">
                          <a:effectLst/>
                        </a:rPr>
                        <a:t>]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Ferdeség</a:t>
                      </a:r>
                      <a:r>
                        <a:rPr lang="en-US" sz="1100" u="none" strike="noStrike" dirty="0">
                          <a:effectLst/>
                        </a:rPr>
                        <a:t> (skewness)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941688134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E[X</a:t>
                      </a:r>
                      <a:r>
                        <a:rPr lang="en-US" sz="1100" u="none" strike="noStrike" baseline="30000">
                          <a:effectLst/>
                        </a:rPr>
                        <a:t>4</a:t>
                      </a:r>
                      <a:r>
                        <a:rPr lang="en-US" sz="1100" u="none" strike="noStrike">
                          <a:effectLst/>
                        </a:rPr>
                        <a:t>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E[(X-</a:t>
                      </a:r>
                      <a:r>
                        <a:rPr lang="el-GR" sz="1100" u="none" strike="noStrike">
                          <a:effectLst/>
                        </a:rPr>
                        <a:t>μ)</a:t>
                      </a:r>
                      <a:r>
                        <a:rPr lang="el-GR" sz="1100" u="none" strike="noStrike" baseline="30000">
                          <a:effectLst/>
                        </a:rPr>
                        <a:t>4</a:t>
                      </a:r>
                      <a:r>
                        <a:rPr lang="el-GR" sz="1100" u="none" strike="noStrike">
                          <a:effectLst/>
                        </a:rPr>
                        <a:t>]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Kurtózis</a:t>
                      </a:r>
                      <a:r>
                        <a:rPr lang="en-US" sz="1100" u="none" strike="noStrike" dirty="0">
                          <a:effectLst/>
                        </a:rPr>
                        <a:t> (</a:t>
                      </a:r>
                      <a:r>
                        <a:rPr lang="en-US" sz="1100" u="none" strike="noStrike" dirty="0" err="1">
                          <a:effectLst/>
                        </a:rPr>
                        <a:t>csúcsosság</a:t>
                      </a:r>
                      <a:r>
                        <a:rPr lang="en-US" sz="1100" u="none" strike="noStrike" dirty="0">
                          <a:effectLst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9838675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63196360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B6D4914-8398-4BE0-A2ED-8CF3247BF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566" y="13194"/>
            <a:ext cx="5647434" cy="262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784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Minőség- biztosítási statisztika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57150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1400" i="1" dirty="0">
                <a:latin typeface="+mn-lt"/>
                <a:cs typeface="+mn-cs"/>
              </a:rPr>
              <a:t>(Pl. gyártunk valamit, és minden </a:t>
            </a:r>
            <a:r>
              <a:rPr lang="hu-HU" sz="1400" i="1" dirty="0" err="1">
                <a:latin typeface="+mn-lt"/>
                <a:cs typeface="+mn-cs"/>
              </a:rPr>
              <a:t>gyártottterméknél</a:t>
            </a:r>
            <a:r>
              <a:rPr lang="hu-HU" sz="1400" i="1" dirty="0">
                <a:latin typeface="+mn-lt"/>
                <a:cs typeface="+mn-cs"/>
              </a:rPr>
              <a:t> megmérjük a nyomást…)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Gyártás során </a:t>
            </a:r>
            <a:r>
              <a:rPr lang="hu-HU" sz="1600" b="1" dirty="0">
                <a:latin typeface="+mn-lt"/>
                <a:cs typeface="+mn-cs"/>
              </a:rPr>
              <a:t>ismerjük</a:t>
            </a:r>
            <a:r>
              <a:rPr lang="hu-HU" sz="1600" dirty="0">
                <a:latin typeface="+mn-lt"/>
                <a:cs typeface="+mn-cs"/>
              </a:rPr>
              <a:t> a folyamatot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hu-HU" sz="1600" dirty="0">
                <a:latin typeface="+mn-lt"/>
                <a:cs typeface="+mn-cs"/>
              </a:rPr>
              <a:t>z eredmény tehát csak a véletlentől függ, ezért közelíthetjük </a:t>
            </a:r>
            <a:r>
              <a:rPr lang="hu-HU" sz="1600" dirty="0" err="1">
                <a:latin typeface="+mn-lt"/>
                <a:cs typeface="+mn-cs"/>
              </a:rPr>
              <a:t>norm</a:t>
            </a:r>
            <a:r>
              <a:rPr lang="hu-HU" sz="1600" dirty="0">
                <a:latin typeface="+mn-lt"/>
                <a:cs typeface="+mn-cs"/>
              </a:rPr>
              <a:t>. eloszlással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 ‚kiugró’ értéket észlelünk (selejtet gyártunk), azt észleljük, annak gyakoriságát tudjuk becsülni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Általában legalább 6xszórásnyi távolságokban szokták meghúzni a hatást (</a:t>
            </a:r>
            <a:r>
              <a:rPr lang="hu-HU" sz="1600" dirty="0" err="1">
                <a:latin typeface="+mn-lt"/>
                <a:cs typeface="+mn-cs"/>
              </a:rPr>
              <a:t>six</a:t>
            </a:r>
            <a:r>
              <a:rPr lang="hu-HU" sz="1600" dirty="0">
                <a:latin typeface="+mn-lt"/>
                <a:cs typeface="+mn-cs"/>
              </a:rPr>
              <a:t> </a:t>
            </a:r>
            <a:r>
              <a:rPr lang="hu-HU" sz="1600" dirty="0" err="1">
                <a:latin typeface="+mn-lt"/>
                <a:cs typeface="+mn-cs"/>
              </a:rPr>
              <a:t>sigma</a:t>
            </a:r>
            <a:r>
              <a:rPr lang="hu-HU" sz="1600" dirty="0">
                <a:latin typeface="+mn-lt"/>
                <a:cs typeface="+mn-cs"/>
              </a:rPr>
              <a:t>, USL,LSL)</a:t>
            </a:r>
            <a:endParaRPr lang="hu-HU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6D4914-8398-4BE0-A2ED-8CF3247BF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566" y="13195"/>
            <a:ext cx="3785875" cy="17596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ACB96A-C814-4570-B6AA-BB8D87C69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566" y="2230452"/>
            <a:ext cx="5695675" cy="287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793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altLang="hu-HU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(Valószínűségi) modellek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valóságot különböző (annál egyszerűbb) </a:t>
            </a:r>
            <a:r>
              <a:rPr lang="hu-HU" sz="1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modellekkel</a:t>
            </a: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próbáljuk leírni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(Legalábbis) mivel ezek egyszerűbbek a valóságnál, azt nem fogják tudni tökéletesen leírni…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modell hiányosságai miatt felüti a fejét a </a:t>
            </a:r>
            <a:r>
              <a:rPr lang="hu-HU" sz="1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véletlen (hiba)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Ne felejtsük el, hogy:</a:t>
            </a:r>
          </a:p>
          <a:p>
            <a:pPr marL="449263" lvl="1" indent="-180975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hu-HU" sz="1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modelleink</a:t>
            </a: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legtöbbször </a:t>
            </a:r>
            <a:r>
              <a:rPr lang="hu-HU" sz="1400" dirty="0">
                <a:latin typeface="+mn-lt"/>
                <a:cs typeface="+mn-cs"/>
              </a:rPr>
              <a:t>számos </a:t>
            </a:r>
            <a:r>
              <a:rPr lang="hu-HU" sz="1400" b="1" dirty="0">
                <a:latin typeface="+mn-lt"/>
                <a:cs typeface="+mn-cs"/>
              </a:rPr>
              <a:t>feltétel</a:t>
            </a:r>
            <a:r>
              <a:rPr lang="hu-HU" sz="1400" dirty="0">
                <a:latin typeface="+mn-lt"/>
                <a:cs typeface="+mn-cs"/>
              </a:rPr>
              <a:t> mellett lehetnek érvényesek</a:t>
            </a:r>
          </a:p>
          <a:p>
            <a:pPr marL="449263" lvl="1" indent="-180975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következtetések levonása során a modellre támaszkodunk, nem a valóságra</a:t>
            </a:r>
          </a:p>
        </p:txBody>
      </p:sp>
      <p:pic>
        <p:nvPicPr>
          <p:cNvPr id="6" name="Picture 5" descr="A close up of a mans face&#10;&#10;Description automatically generated">
            <a:extLst>
              <a:ext uri="{FF2B5EF4-FFF2-40B4-BE49-F238E27FC236}">
                <a16:creationId xmlns:a16="http://schemas.microsoft.com/office/drawing/2014/main" id="{2F3351AB-01C2-452C-96EC-0F3D60CF1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821" y="1219366"/>
            <a:ext cx="2581275" cy="35337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26903B-9382-4F51-8B8F-5F7370D27870}"/>
              </a:ext>
            </a:extLst>
          </p:cNvPr>
          <p:cNvSpPr txBox="1"/>
          <p:nvPr/>
        </p:nvSpPr>
        <p:spPr>
          <a:xfrm>
            <a:off x="3811771" y="5279799"/>
            <a:ext cx="51162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i="1" dirty="0">
                <a:solidFill>
                  <a:schemeClr val="bg1"/>
                </a:solidFill>
              </a:rPr>
              <a:t>A legtöbbször(?) a modellünket felfoghatjuk prediktív modellként (ha egy mérést adott körülmények között megismételnék, milyen eredményt kapnék?)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F0257-9B9E-4F9E-8DCA-FBCE9CC30003}"/>
              </a:ext>
            </a:extLst>
          </p:cNvPr>
          <p:cNvSpPr txBox="1"/>
          <p:nvPr/>
        </p:nvSpPr>
        <p:spPr>
          <a:xfrm>
            <a:off x="4008881" y="179348"/>
            <a:ext cx="49191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i="1" dirty="0">
                <a:solidFill>
                  <a:schemeClr val="bg1"/>
                </a:solidFill>
              </a:rPr>
              <a:t>„</a:t>
            </a:r>
            <a:r>
              <a:rPr lang="hu-HU" sz="1400" i="1" dirty="0" err="1">
                <a:solidFill>
                  <a:schemeClr val="bg1"/>
                </a:solidFill>
              </a:rPr>
              <a:t>You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may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think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that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the</a:t>
            </a:r>
            <a:r>
              <a:rPr lang="hu-HU" sz="1400" i="1" dirty="0">
                <a:solidFill>
                  <a:schemeClr val="bg1"/>
                </a:solidFill>
              </a:rPr>
              <a:t> mind is </a:t>
            </a:r>
            <a:r>
              <a:rPr lang="hu-HU" sz="1400" i="1" dirty="0" err="1">
                <a:solidFill>
                  <a:schemeClr val="bg1"/>
                </a:solidFill>
              </a:rPr>
              <a:t>real</a:t>
            </a:r>
            <a:r>
              <a:rPr lang="hu-HU" sz="1400" i="1" dirty="0">
                <a:solidFill>
                  <a:schemeClr val="bg1"/>
                </a:solidFill>
              </a:rPr>
              <a:t>, and </a:t>
            </a:r>
            <a:r>
              <a:rPr lang="hu-HU" sz="1400" i="1" dirty="0" err="1">
                <a:solidFill>
                  <a:schemeClr val="bg1"/>
                </a:solidFill>
              </a:rPr>
              <a:t>that</a:t>
            </a:r>
            <a:r>
              <a:rPr lang="hu-HU" sz="1400" i="1" dirty="0">
                <a:solidFill>
                  <a:schemeClr val="bg1"/>
                </a:solidFill>
              </a:rPr>
              <a:t> is </a:t>
            </a:r>
            <a:r>
              <a:rPr lang="hu-HU" sz="1400" i="1" dirty="0" err="1">
                <a:solidFill>
                  <a:schemeClr val="bg1"/>
                </a:solidFill>
              </a:rPr>
              <a:t>not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wrong</a:t>
            </a:r>
            <a:r>
              <a:rPr lang="hu-HU" sz="1400" i="1" dirty="0">
                <a:solidFill>
                  <a:schemeClr val="bg1"/>
                </a:solidFill>
              </a:rPr>
              <a:t>. </a:t>
            </a:r>
            <a:r>
              <a:rPr lang="hu-HU" sz="1400" i="1" dirty="0" err="1">
                <a:solidFill>
                  <a:schemeClr val="bg1"/>
                </a:solidFill>
              </a:rPr>
              <a:t>But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you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think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that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it</a:t>
            </a:r>
            <a:r>
              <a:rPr lang="hu-HU" sz="1400" i="1" dirty="0">
                <a:solidFill>
                  <a:schemeClr val="bg1"/>
                </a:solidFill>
              </a:rPr>
              <a:t> is </a:t>
            </a:r>
            <a:r>
              <a:rPr lang="hu-HU" sz="1400" b="1" i="1" dirty="0" err="1">
                <a:solidFill>
                  <a:schemeClr val="bg1"/>
                </a:solidFill>
              </a:rPr>
              <a:t>really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real</a:t>
            </a:r>
            <a:r>
              <a:rPr lang="hu-HU" sz="1400" i="1" dirty="0">
                <a:solidFill>
                  <a:schemeClr val="bg1"/>
                </a:solidFill>
              </a:rPr>
              <a:t>. </a:t>
            </a:r>
            <a:r>
              <a:rPr lang="hu-HU" sz="1400" i="1" dirty="0" err="1">
                <a:solidFill>
                  <a:schemeClr val="bg1"/>
                </a:solidFill>
              </a:rPr>
              <a:t>You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exaggerate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it</a:t>
            </a:r>
            <a:r>
              <a:rPr lang="hu-HU" sz="1400" i="1" dirty="0">
                <a:solidFill>
                  <a:schemeClr val="bg1"/>
                </a:solidFill>
              </a:rPr>
              <a:t>.” </a:t>
            </a:r>
            <a:br>
              <a:rPr lang="hu-HU" sz="1400" i="1" dirty="0">
                <a:solidFill>
                  <a:schemeClr val="bg1"/>
                </a:solidFill>
              </a:rPr>
            </a:br>
            <a:r>
              <a:rPr lang="hu-HU" sz="1400" i="1" dirty="0">
                <a:solidFill>
                  <a:schemeClr val="bg1"/>
                </a:solidFill>
              </a:rPr>
              <a:t>?Anonymus</a:t>
            </a:r>
            <a:endParaRPr lang="en-US" sz="1400" i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BDBE57-85D6-4E59-B911-2393817D3E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782284"/>
            <a:ext cx="215265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357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Példa - pénzfeldobás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Feldobok egy (fair) pénzérmét 5-ször. Mekkora valószínűséggel kapok 0-1-2-stb. fejet eredményként?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Valószínűségszámítási példa – minden pontosan ismert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Az alkalmazott modellnek (természetesen) vannak hiányosságai, pl.:</a:t>
            </a:r>
          </a:p>
          <a:p>
            <a:pPr marL="449263" lvl="1" indent="-180975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Függetlenek a </a:t>
            </a:r>
            <a:r>
              <a:rPr lang="hu-HU" sz="1400" dirty="0">
                <a:latin typeface="+mn-lt"/>
                <a:cs typeface="+mn-cs"/>
              </a:rPr>
              <a:t>pénzfeldobások?</a:t>
            </a:r>
          </a:p>
          <a:p>
            <a:pPr marL="449263" lvl="1" indent="-180975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Csak két kimenetel lehet (madár elviszi a pénzt)?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Az eredmények ún. binomiális eloszlást követnek, amiről gyakorlatilag már mindent tudunk</a:t>
            </a:r>
            <a:endParaRPr lang="hu-HU" sz="1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589581-F81B-4A60-8546-35F33988E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120" y="1113762"/>
            <a:ext cx="4487793" cy="22333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5F17CE-8933-4A7A-AB1B-F050A4E153C6}"/>
              </a:ext>
            </a:extLst>
          </p:cNvPr>
          <p:cNvSpPr txBox="1"/>
          <p:nvPr/>
        </p:nvSpPr>
        <p:spPr>
          <a:xfrm rot="10800000" flipV="1">
            <a:off x="3671392" y="3571548"/>
            <a:ext cx="54726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i="1" dirty="0">
                <a:solidFill>
                  <a:schemeClr val="bg1"/>
                </a:solidFill>
              </a:rPr>
              <a:t>A kapott fejek száma függ a véletlentől, ezért ez egy </a:t>
            </a:r>
            <a:r>
              <a:rPr lang="hu-HU" sz="1600" b="1" i="1" dirty="0">
                <a:solidFill>
                  <a:schemeClr val="bg1"/>
                </a:solidFill>
              </a:rPr>
              <a:t>valószínűségi változó</a:t>
            </a:r>
            <a:r>
              <a:rPr lang="hu-HU" sz="1600" i="1" dirty="0">
                <a:solidFill>
                  <a:schemeClr val="bg1"/>
                </a:solidFill>
              </a:rPr>
              <a:t> (X)</a:t>
            </a:r>
          </a:p>
          <a:p>
            <a:endParaRPr lang="hu-HU" sz="1600" i="1" dirty="0">
              <a:solidFill>
                <a:schemeClr val="bg1"/>
              </a:solidFill>
            </a:endParaRPr>
          </a:p>
          <a:p>
            <a:r>
              <a:rPr lang="hu-HU" sz="1600" i="1" dirty="0">
                <a:solidFill>
                  <a:schemeClr val="bg1"/>
                </a:solidFill>
              </a:rPr>
              <a:t>Sokat tudunk róla, mert pontosan ismert az </a:t>
            </a:r>
            <a:r>
              <a:rPr lang="hu-HU" sz="1600" b="1" i="1" dirty="0">
                <a:solidFill>
                  <a:schemeClr val="bg1"/>
                </a:solidFill>
              </a:rPr>
              <a:t>eloszlása (sűrűsége)</a:t>
            </a:r>
            <a:r>
              <a:rPr lang="hu-HU" sz="1600" i="1" dirty="0">
                <a:solidFill>
                  <a:schemeClr val="bg1"/>
                </a:solidFill>
              </a:rPr>
              <a:t> </a:t>
            </a:r>
            <a:br>
              <a:rPr lang="hu-HU" sz="1600" i="1" dirty="0">
                <a:solidFill>
                  <a:schemeClr val="bg1"/>
                </a:solidFill>
              </a:rPr>
            </a:br>
            <a:r>
              <a:rPr lang="hu-HU" sz="1600" i="1" dirty="0">
                <a:solidFill>
                  <a:schemeClr val="bg1"/>
                </a:solidFill>
              </a:rPr>
              <a:t>(a modell alapján)</a:t>
            </a:r>
          </a:p>
          <a:p>
            <a:endParaRPr lang="hu-HU" sz="1600" i="1" dirty="0">
              <a:solidFill>
                <a:schemeClr val="bg1"/>
              </a:solidFill>
            </a:endParaRPr>
          </a:p>
          <a:p>
            <a:r>
              <a:rPr lang="hu-HU" sz="1600" i="1" dirty="0">
                <a:solidFill>
                  <a:schemeClr val="bg1"/>
                </a:solidFill>
              </a:rPr>
              <a:t>Várható érték    E(X) = 2,5</a:t>
            </a:r>
          </a:p>
          <a:p>
            <a:r>
              <a:rPr lang="hu-HU" sz="1600" i="1" dirty="0">
                <a:solidFill>
                  <a:schemeClr val="bg1"/>
                </a:solidFill>
              </a:rPr>
              <a:t>Variancia        Var(X) = 5/4 </a:t>
            </a:r>
            <a:r>
              <a:rPr lang="hu-HU" sz="1600" i="1" dirty="0" err="1">
                <a:solidFill>
                  <a:schemeClr val="bg1"/>
                </a:solidFill>
              </a:rPr>
              <a:t>stb</a:t>
            </a:r>
            <a:r>
              <a:rPr lang="hu-HU" sz="1600" i="1" dirty="0">
                <a:solidFill>
                  <a:schemeClr val="bg1"/>
                </a:solidFill>
              </a:rPr>
              <a:t>…</a:t>
            </a:r>
            <a:endParaRPr lang="en-US" sz="1600" i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8501D2-3659-4B2E-AF5E-2C447EC1ECA2}"/>
              </a:ext>
            </a:extLst>
          </p:cNvPr>
          <p:cNvSpPr txBox="1"/>
          <p:nvPr/>
        </p:nvSpPr>
        <p:spPr>
          <a:xfrm>
            <a:off x="7900381" y="438726"/>
            <a:ext cx="1065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(H,</a:t>
            </a:r>
            <a:r>
              <a:rPr lang="hu-HU" dirty="0">
                <a:solidFill>
                  <a:schemeClr val="bg1"/>
                </a:solidFill>
                <a:latin typeface="Blackadder ITC" panose="04020505051007020D02" pitchFamily="82" charset="0"/>
              </a:rPr>
              <a:t>A</a:t>
            </a:r>
            <a:r>
              <a:rPr lang="hu-HU" dirty="0">
                <a:solidFill>
                  <a:schemeClr val="bg1"/>
                </a:solidFill>
              </a:rPr>
              <a:t>,P)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1907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Példa – pénzfeldobás II.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Feldobtam egy pénzérmét 30-szor. Mekkora lehet a „P” (fej dobásának) valószínűsége? </a:t>
            </a:r>
            <a:br>
              <a:rPr lang="hu-HU" sz="1400" dirty="0">
                <a:latin typeface="+mn-lt"/>
                <a:cs typeface="+mn-cs"/>
              </a:rPr>
            </a:br>
            <a:r>
              <a:rPr lang="hu-HU" sz="1400" dirty="0">
                <a:latin typeface="+mn-lt"/>
                <a:cs typeface="+mn-cs"/>
              </a:rPr>
              <a:t>(18 ‚fej’-</a:t>
            </a:r>
            <a:r>
              <a:rPr lang="hu-HU" sz="1400" dirty="0" err="1">
                <a:latin typeface="+mn-lt"/>
                <a:cs typeface="+mn-cs"/>
              </a:rPr>
              <a:t>et</a:t>
            </a:r>
            <a:r>
              <a:rPr lang="hu-HU" sz="1400" dirty="0">
                <a:latin typeface="+mn-lt"/>
                <a:cs typeface="+mn-cs"/>
              </a:rPr>
              <a:t> kaptunk)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Szerepet kap a véletlen, és az eloszlása ugyanaz, mint korábban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Hasonlítsuk össze a szóba jövő modelleket </a:t>
            </a:r>
            <a:r>
              <a:rPr lang="hu-HU" sz="1400" dirty="0" err="1">
                <a:latin typeface="+mn-lt"/>
                <a:cs typeface="+mn-cs"/>
              </a:rPr>
              <a:t>sűrűségfv</a:t>
            </a:r>
            <a:r>
              <a:rPr lang="hu-HU" sz="1400" dirty="0">
                <a:latin typeface="+mn-lt"/>
                <a:cs typeface="+mn-cs"/>
              </a:rPr>
              <a:t>.-ek alapján (</a:t>
            </a:r>
            <a:r>
              <a:rPr lang="hu-HU" sz="1400" b="1" dirty="0" err="1">
                <a:latin typeface="+mn-lt"/>
                <a:cs typeface="+mn-cs"/>
              </a:rPr>
              <a:t>likelihood</a:t>
            </a:r>
            <a:r>
              <a:rPr lang="hu-HU" sz="1400" b="1" dirty="0">
                <a:latin typeface="+mn-lt"/>
                <a:cs typeface="+mn-cs"/>
              </a:rPr>
              <a:t> </a:t>
            </a:r>
            <a:r>
              <a:rPr lang="hu-HU" sz="1400" b="1" dirty="0" err="1">
                <a:latin typeface="+mn-lt"/>
                <a:cs typeface="+mn-cs"/>
              </a:rPr>
              <a:t>fv</a:t>
            </a:r>
            <a:r>
              <a:rPr lang="hu-HU" sz="1400" dirty="0">
                <a:latin typeface="+mn-lt"/>
                <a:cs typeface="+mn-cs"/>
              </a:rPr>
              <a:t>.)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A gyakorlatban ezt </a:t>
            </a:r>
            <a:r>
              <a:rPr lang="hu-HU" sz="1400" dirty="0" err="1">
                <a:latin typeface="+mn-lt"/>
                <a:cs typeface="+mn-cs"/>
              </a:rPr>
              <a:t>logaritmálni</a:t>
            </a:r>
            <a:r>
              <a:rPr lang="hu-HU" sz="1400" dirty="0">
                <a:latin typeface="+mn-lt"/>
                <a:cs typeface="+mn-cs"/>
              </a:rPr>
              <a:t> szokták, illetve differenciálják is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Ez a </a:t>
            </a:r>
            <a:r>
              <a:rPr lang="hu-HU" sz="1400" b="1" dirty="0">
                <a:latin typeface="+mn-lt"/>
                <a:cs typeface="+mn-cs"/>
              </a:rPr>
              <a:t>maximum </a:t>
            </a:r>
            <a:r>
              <a:rPr lang="hu-HU" sz="1400" b="1" dirty="0" err="1">
                <a:latin typeface="+mn-lt"/>
                <a:cs typeface="+mn-cs"/>
              </a:rPr>
              <a:t>likelihood</a:t>
            </a:r>
            <a:r>
              <a:rPr lang="hu-HU" sz="1400" dirty="0">
                <a:latin typeface="+mn-lt"/>
                <a:cs typeface="+mn-cs"/>
              </a:rPr>
              <a:t> módszere (ML)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b="1" dirty="0">
                <a:latin typeface="+mn-lt"/>
                <a:cs typeface="+mn-cs"/>
              </a:rPr>
              <a:t>A </a:t>
            </a:r>
            <a:r>
              <a:rPr lang="hu-HU" sz="1400" b="1" dirty="0" err="1">
                <a:latin typeface="+mn-lt"/>
                <a:cs typeface="+mn-cs"/>
              </a:rPr>
              <a:t>likelihood</a:t>
            </a:r>
            <a:r>
              <a:rPr lang="hu-HU" sz="1400" b="1" dirty="0">
                <a:latin typeface="+mn-lt"/>
                <a:cs typeface="+mn-cs"/>
              </a:rPr>
              <a:t> nem áll összefüggésben a modell „igazságával”!! </a:t>
            </a:r>
            <a:endParaRPr lang="hu-HU" sz="14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EC7DA1-CA21-40F8-BC31-C8E5B0E0EA2E}"/>
              </a:ext>
            </a:extLst>
          </p:cNvPr>
          <p:cNvSpPr/>
          <p:nvPr/>
        </p:nvSpPr>
        <p:spPr>
          <a:xfrm>
            <a:off x="8028384" y="188640"/>
            <a:ext cx="1008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(H,</a:t>
            </a:r>
            <a:r>
              <a:rPr lang="hu-HU" dirty="0">
                <a:solidFill>
                  <a:schemeClr val="bg1"/>
                </a:solidFill>
                <a:latin typeface="Blackadder ITC" panose="04020505051007020D02" pitchFamily="82" charset="0"/>
              </a:rPr>
              <a:t>A</a:t>
            </a:r>
            <a:r>
              <a:rPr lang="hu-HU" dirty="0">
                <a:solidFill>
                  <a:schemeClr val="bg1"/>
                </a:solidFill>
              </a:rPr>
              <a:t>,</a:t>
            </a:r>
            <a:r>
              <a:rPr lang="el-GR" dirty="0">
                <a:solidFill>
                  <a:schemeClr val="bg1"/>
                </a:solidFill>
              </a:rPr>
              <a:t>Θ</a:t>
            </a:r>
            <a:r>
              <a:rPr lang="hu-HU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7F788E-BEF7-4556-B323-F68A9B737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895" y="557972"/>
            <a:ext cx="5473105" cy="575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60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„Statisztika”</a:t>
            </a:r>
            <a:br>
              <a:rPr lang="hu-HU" sz="2400" b="1" dirty="0">
                <a:latin typeface="+mj-lt"/>
                <a:ea typeface="+mj-ea"/>
                <a:cs typeface="+mj-cs"/>
              </a:rPr>
            </a:br>
            <a:r>
              <a:rPr lang="hu-HU" sz="2400" b="1" dirty="0">
                <a:latin typeface="+mj-lt"/>
                <a:ea typeface="+mj-ea"/>
                <a:cs typeface="+mj-cs"/>
              </a:rPr>
              <a:t>(</a:t>
            </a:r>
            <a:r>
              <a:rPr lang="hu-HU" sz="2400" b="1" dirty="0" err="1">
                <a:latin typeface="+mj-lt"/>
                <a:ea typeface="+mj-ea"/>
                <a:cs typeface="+mj-cs"/>
              </a:rPr>
              <a:t>Summary</a:t>
            </a:r>
            <a:r>
              <a:rPr lang="hu-HU" sz="2400" b="1" dirty="0">
                <a:latin typeface="+mj-lt"/>
                <a:ea typeface="+mj-ea"/>
                <a:cs typeface="+mj-cs"/>
              </a:rPr>
              <a:t> </a:t>
            </a:r>
            <a:r>
              <a:rPr lang="hu-HU" sz="2400" b="1" dirty="0" err="1">
                <a:latin typeface="+mj-lt"/>
                <a:ea typeface="+mj-ea"/>
                <a:cs typeface="+mj-cs"/>
              </a:rPr>
              <a:t>measure</a:t>
            </a:r>
            <a:r>
              <a:rPr lang="hu-HU" sz="2400" b="1" dirty="0">
                <a:latin typeface="+mj-lt"/>
                <a:ea typeface="+mj-ea"/>
                <a:cs typeface="+mj-cs"/>
              </a:rPr>
              <a:t>)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megfigyeléseinket transzformáljuk (ált. egy értéket </a:t>
            </a:r>
            <a:r>
              <a:rPr lang="hu-HU" sz="1400" dirty="0"/>
              <a:t>csinálunk belőlük</a:t>
            </a: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Ez a „</a:t>
            </a:r>
            <a:r>
              <a:rPr lang="hu-HU" sz="1400" dirty="0" err="1">
                <a:latin typeface="+mn-lt"/>
                <a:cs typeface="+mn-cs"/>
              </a:rPr>
              <a:t>summary</a:t>
            </a:r>
            <a:r>
              <a:rPr lang="hu-HU" sz="1400" dirty="0">
                <a:latin typeface="+mn-lt"/>
                <a:cs typeface="+mn-cs"/>
              </a:rPr>
              <a:t> </a:t>
            </a:r>
            <a:r>
              <a:rPr lang="hu-HU" sz="1400" dirty="0" err="1">
                <a:latin typeface="+mn-lt"/>
                <a:cs typeface="+mn-cs"/>
              </a:rPr>
              <a:t>measure</a:t>
            </a:r>
            <a:r>
              <a:rPr lang="hu-HU" sz="1400" dirty="0">
                <a:latin typeface="+mn-lt"/>
                <a:cs typeface="+mn-cs"/>
              </a:rPr>
              <a:t>” (lehetőség szerint) tartalmazza a modellünk paramétereinek </a:t>
            </a:r>
            <a:r>
              <a:rPr lang="hu-HU" sz="1400" dirty="0" err="1">
                <a:latin typeface="+mn-lt"/>
                <a:cs typeface="+mn-cs"/>
              </a:rPr>
              <a:t>megiseréséhez</a:t>
            </a:r>
            <a:r>
              <a:rPr lang="hu-HU" sz="1400" dirty="0">
                <a:latin typeface="+mn-lt"/>
                <a:cs typeface="+mn-cs"/>
              </a:rPr>
              <a:t> szükséges legtöbb információt (elégséges statisztika)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Ez lehet közvetlenül az ún. p-érték is, vagy ebből számolhatunk p-értéket (pl. itt: t-statisztikából lehet p-értéket számolni, csak itt ez nem megfelelő)</a:t>
            </a:r>
          </a:p>
        </p:txBody>
      </p:sp>
      <p:pic>
        <p:nvPicPr>
          <p:cNvPr id="5" name="Picture 4" descr="A close up of a map&#10;&#10;Description automatically generated">
            <a:extLst>
              <a:ext uri="{FF2B5EF4-FFF2-40B4-BE49-F238E27FC236}">
                <a16:creationId xmlns:a16="http://schemas.microsoft.com/office/drawing/2014/main" id="{6512689E-C2A5-40EF-9923-D0D56EF67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182" y="37717"/>
            <a:ext cx="4084818" cy="63541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2796A6-9149-4CC1-AEF6-4018EDC05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875" y="466120"/>
            <a:ext cx="3659773" cy="231480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BD4E444-FF4A-4CBA-86A9-F22B8E33A7E1}"/>
              </a:ext>
            </a:extLst>
          </p:cNvPr>
          <p:cNvSpPr/>
          <p:nvPr/>
        </p:nvSpPr>
        <p:spPr>
          <a:xfrm>
            <a:off x="8028384" y="188640"/>
            <a:ext cx="1008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(H,</a:t>
            </a:r>
            <a:r>
              <a:rPr lang="hu-HU" dirty="0">
                <a:solidFill>
                  <a:schemeClr val="bg1"/>
                </a:solidFill>
                <a:latin typeface="Blackadder ITC" panose="04020505051007020D02" pitchFamily="82" charset="0"/>
              </a:rPr>
              <a:t>A</a:t>
            </a:r>
            <a:r>
              <a:rPr lang="hu-HU" dirty="0">
                <a:solidFill>
                  <a:schemeClr val="bg1"/>
                </a:solidFill>
              </a:rPr>
              <a:t>,</a:t>
            </a:r>
            <a:r>
              <a:rPr lang="el-GR" dirty="0">
                <a:solidFill>
                  <a:schemeClr val="bg1"/>
                </a:solidFill>
              </a:rPr>
              <a:t>Θ</a:t>
            </a:r>
            <a:r>
              <a:rPr lang="hu-HU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205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p-érték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Ötlet 1: </a:t>
            </a: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számoljuk ki, </a:t>
            </a:r>
            <a:r>
              <a:rPr lang="hu-H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mekkora az esélye, hogy a megfigyeltekhez képest extrémebb </a:t>
            </a: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(vagy ugyanolyan)</a:t>
            </a:r>
            <a:r>
              <a:rPr lang="hu-H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eredményt kapunk </a:t>
            </a: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(adott feltételek mellett, pl. ‚fair’ pénzérme, 18/30 fej)!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b="1" dirty="0"/>
              <a:t>Ötlet 2: </a:t>
            </a:r>
            <a:r>
              <a:rPr lang="hu-HU" sz="1600" dirty="0"/>
              <a:t>számoljuk ki, mekkora p-értékeket kapunk </a:t>
            </a:r>
            <a:r>
              <a:rPr lang="hu-HU" sz="1600" b="1" dirty="0"/>
              <a:t>az összes szóba jöhető esetben </a:t>
            </a:r>
            <a:r>
              <a:rPr lang="hu-HU" sz="1600" dirty="0"/>
              <a:t>(31 eset)!</a:t>
            </a:r>
            <a:br>
              <a:rPr lang="hu-HU" sz="1600" dirty="0"/>
            </a:br>
            <a:endParaRPr lang="hu-HU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D4E444-FF4A-4CBA-86A9-F22B8E33A7E1}"/>
              </a:ext>
            </a:extLst>
          </p:cNvPr>
          <p:cNvSpPr/>
          <p:nvPr/>
        </p:nvSpPr>
        <p:spPr>
          <a:xfrm>
            <a:off x="8028384" y="188640"/>
            <a:ext cx="1008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(H,</a:t>
            </a:r>
            <a:r>
              <a:rPr lang="hu-HU" dirty="0">
                <a:solidFill>
                  <a:schemeClr val="bg1"/>
                </a:solidFill>
                <a:latin typeface="Blackadder ITC" panose="04020505051007020D02" pitchFamily="82" charset="0"/>
              </a:rPr>
              <a:t>A</a:t>
            </a:r>
            <a:r>
              <a:rPr lang="hu-HU" dirty="0">
                <a:solidFill>
                  <a:schemeClr val="bg1"/>
                </a:solidFill>
              </a:rPr>
              <a:t>,</a:t>
            </a:r>
            <a:r>
              <a:rPr lang="el-GR" dirty="0">
                <a:solidFill>
                  <a:schemeClr val="bg1"/>
                </a:solidFill>
              </a:rPr>
              <a:t>Θ</a:t>
            </a:r>
            <a:r>
              <a:rPr lang="hu-HU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7E70BC-D887-4595-BF32-721012E3E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7904" y="780673"/>
            <a:ext cx="5112568" cy="1477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binom.test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(18,30,p=0.5) </a:t>
            </a:r>
            <a:endParaRPr kumimoji="0" lang="hu-HU" altLang="en-US" sz="16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Lucida Console" panose="020B0609040504020204" pitchFamily="49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Exact binomial test </a:t>
            </a:r>
            <a:endParaRPr kumimoji="0" lang="hu-HU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hu-HU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data: 18 and 30 </a:t>
            </a:r>
            <a:endParaRPr kumimoji="0" lang="hu-HU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number of successes = 18, </a:t>
            </a:r>
            <a:endParaRPr kumimoji="0" lang="hu-HU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number of trials = 30,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p-value = 0.3616</a:t>
            </a: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28CB18-F44D-4266-95DF-2DC9A4807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2882459"/>
            <a:ext cx="5329089" cy="337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9912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Konfidencia intervallum(ok)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57150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1400" dirty="0">
                <a:latin typeface="+mn-lt"/>
                <a:cs typeface="+mn-cs"/>
              </a:rPr>
              <a:t>(18 fej 30 feldobásból)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A megfigyelt 18/30 sikerarányhoz szerkesszünk </a:t>
            </a:r>
            <a:r>
              <a:rPr lang="hu-HU" sz="1400" b="1" dirty="0">
                <a:latin typeface="+mn-lt"/>
                <a:cs typeface="+mn-cs"/>
              </a:rPr>
              <a:t>konfidencia intervallumot </a:t>
            </a:r>
            <a:r>
              <a:rPr lang="hu-HU" sz="1400" dirty="0">
                <a:latin typeface="+mn-lt"/>
                <a:cs typeface="+mn-cs"/>
              </a:rPr>
              <a:t>(CI) 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A CI jelentése, hogy </a:t>
            </a:r>
            <a:br>
              <a:rPr lang="hu-HU" sz="1400" dirty="0">
                <a:latin typeface="+mn-lt"/>
                <a:cs typeface="+mn-cs"/>
              </a:rPr>
            </a:br>
            <a:r>
              <a:rPr lang="hu-HU" sz="1400" b="1" dirty="0">
                <a:latin typeface="+mn-lt"/>
                <a:cs typeface="+mn-cs"/>
              </a:rPr>
              <a:t>sokszor megismételve a kísérletet, a kapott CI-k „körülölelik” az „igazi” paramétert</a:t>
            </a:r>
            <a:r>
              <a:rPr lang="hu-HU" sz="1400" dirty="0">
                <a:latin typeface="+mn-lt"/>
                <a:cs typeface="+mn-cs"/>
              </a:rPr>
              <a:t> (és mást nem!)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A szerkesztés módja modell- (és probléma) specifikus 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itt pl. 18/36 „feltételezett igazi” fejdobási gyakoriság esetén milyen potenciális eredmények esetén lenne a p-érték 2,5-97,5% között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EC7DA1-CA21-40F8-BC31-C8E5B0E0EA2E}"/>
              </a:ext>
            </a:extLst>
          </p:cNvPr>
          <p:cNvSpPr/>
          <p:nvPr/>
        </p:nvSpPr>
        <p:spPr>
          <a:xfrm>
            <a:off x="8028384" y="188640"/>
            <a:ext cx="1008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(H,</a:t>
            </a:r>
            <a:r>
              <a:rPr lang="hu-HU" dirty="0">
                <a:solidFill>
                  <a:schemeClr val="bg1"/>
                </a:solidFill>
                <a:latin typeface="Blackadder ITC" panose="04020505051007020D02" pitchFamily="82" charset="0"/>
              </a:rPr>
              <a:t>A</a:t>
            </a:r>
            <a:r>
              <a:rPr lang="hu-HU" dirty="0">
                <a:solidFill>
                  <a:schemeClr val="bg1"/>
                </a:solidFill>
              </a:rPr>
              <a:t>,</a:t>
            </a:r>
            <a:r>
              <a:rPr lang="el-GR" dirty="0">
                <a:solidFill>
                  <a:schemeClr val="bg1"/>
                </a:solidFill>
              </a:rPr>
              <a:t>Θ</a:t>
            </a:r>
            <a:r>
              <a:rPr lang="hu-HU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11581F-CF30-4D41-AB87-D8598F48A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3664669"/>
            <a:ext cx="3707904" cy="32058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DCA65B-0FBE-4113-9C1B-759ECE279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183" y="557972"/>
            <a:ext cx="3707904" cy="32058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F523AC-6B61-4DB9-950B-AD9C9979AEAE}"/>
              </a:ext>
            </a:extLst>
          </p:cNvPr>
          <p:cNvSpPr txBox="1"/>
          <p:nvPr/>
        </p:nvSpPr>
        <p:spPr>
          <a:xfrm>
            <a:off x="7092280" y="980728"/>
            <a:ext cx="180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Példa több féle 95% CI-</a:t>
            </a:r>
            <a:r>
              <a:rPr lang="hu-HU" dirty="0" err="1">
                <a:solidFill>
                  <a:schemeClr val="bg1"/>
                </a:solidFill>
              </a:rPr>
              <a:t>ra</a:t>
            </a:r>
            <a:r>
              <a:rPr lang="hu-HU" dirty="0">
                <a:solidFill>
                  <a:schemeClr val="bg1"/>
                </a:solidFill>
              </a:rPr>
              <a:t> egy adott kísérletnél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16F1A2-E742-4101-932B-D4CF266DDAD8}"/>
              </a:ext>
            </a:extLst>
          </p:cNvPr>
          <p:cNvSpPr txBox="1"/>
          <p:nvPr/>
        </p:nvSpPr>
        <p:spPr>
          <a:xfrm>
            <a:off x="3635897" y="4221088"/>
            <a:ext cx="15121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Példa egy kísérlet sok ismétlésekor kapott CI-</a:t>
            </a:r>
            <a:r>
              <a:rPr lang="hu-HU" dirty="0" err="1">
                <a:solidFill>
                  <a:schemeClr val="bg1"/>
                </a:solidFill>
              </a:rPr>
              <a:t>kre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337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Hipotézis-vizsgálat(ok)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Jelenleg a </a:t>
            </a:r>
            <a:r>
              <a:rPr lang="hu-HU" sz="1400" b="1" dirty="0" err="1">
                <a:latin typeface="+mn-lt"/>
                <a:cs typeface="+mn-cs"/>
              </a:rPr>
              <a:t>frekventista</a:t>
            </a:r>
            <a:r>
              <a:rPr lang="hu-HU" sz="1400" dirty="0">
                <a:latin typeface="+mn-lt"/>
                <a:cs typeface="+mn-cs"/>
              </a:rPr>
              <a:t> világban mozgunk – létezik a „valóságban” egy „igazi” paraméter, amit becsülgetünk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b="1" dirty="0">
                <a:latin typeface="+mn-lt"/>
                <a:cs typeface="+mn-cs"/>
              </a:rPr>
              <a:t>Fischer: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Válasszunk statisztikát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Nézzük meg, milyen értékek lennének extrémek a H0 mellett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Ha ilyenek a megfigyelések, vessük el a </a:t>
            </a:r>
            <a:r>
              <a:rPr lang="hu-HU" sz="1400" dirty="0" err="1">
                <a:latin typeface="+mn-lt"/>
                <a:cs typeface="+mn-cs"/>
              </a:rPr>
              <a:t>nullhip</a:t>
            </a:r>
            <a:r>
              <a:rPr lang="hu-HU" sz="1400" dirty="0">
                <a:latin typeface="+mn-lt"/>
                <a:cs typeface="+mn-cs"/>
              </a:rPr>
              <a:t>.-t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b="1" dirty="0" err="1">
                <a:latin typeface="+mn-lt"/>
                <a:cs typeface="+mn-cs"/>
              </a:rPr>
              <a:t>Neyman-Pearson</a:t>
            </a:r>
            <a:r>
              <a:rPr lang="hu-HU" sz="1400" b="1" dirty="0">
                <a:latin typeface="+mn-lt"/>
                <a:cs typeface="+mn-cs"/>
              </a:rPr>
              <a:t>: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Válasszunk statisztikát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Állítsuk fel a H0-t, és az alternatív hipotézist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Válasszunk ki egy határértéket a statisztikából – megadható, hogy mekkora lesz az esélye a jó/rossz döntéseknek (</a:t>
            </a:r>
            <a:r>
              <a:rPr lang="hu-HU" sz="1400" dirty="0" err="1">
                <a:latin typeface="+mn-lt"/>
                <a:cs typeface="+mn-cs"/>
              </a:rPr>
              <a:t>Power</a:t>
            </a:r>
            <a:r>
              <a:rPr lang="hu-HU" sz="1400" dirty="0">
                <a:latin typeface="+mn-lt"/>
                <a:cs typeface="+mn-cs"/>
              </a:rPr>
              <a:t>)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(Ezek ismeretében először nézzük meg, mekkora különbséget szeretnénk/tudunk kimutatni)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EC7DA1-CA21-40F8-BC31-C8E5B0E0EA2E}"/>
              </a:ext>
            </a:extLst>
          </p:cNvPr>
          <p:cNvSpPr/>
          <p:nvPr/>
        </p:nvSpPr>
        <p:spPr>
          <a:xfrm>
            <a:off x="8028384" y="188640"/>
            <a:ext cx="1008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(H,</a:t>
            </a:r>
            <a:r>
              <a:rPr lang="hu-HU" dirty="0">
                <a:solidFill>
                  <a:schemeClr val="bg1"/>
                </a:solidFill>
                <a:latin typeface="Blackadder ITC" panose="04020505051007020D02" pitchFamily="82" charset="0"/>
              </a:rPr>
              <a:t>A</a:t>
            </a:r>
            <a:r>
              <a:rPr lang="hu-HU" dirty="0">
                <a:solidFill>
                  <a:schemeClr val="bg1"/>
                </a:solidFill>
              </a:rPr>
              <a:t>,</a:t>
            </a:r>
            <a:r>
              <a:rPr lang="el-GR" dirty="0">
                <a:solidFill>
                  <a:schemeClr val="bg1"/>
                </a:solidFill>
              </a:rPr>
              <a:t>Θ</a:t>
            </a:r>
            <a:r>
              <a:rPr lang="hu-HU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F972D8-D990-4926-93BB-E7ECD3150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369882"/>
            <a:ext cx="2152650" cy="1676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E1BD8F-4CCC-4835-AC2E-7E2737097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182" y="2046282"/>
            <a:ext cx="4756226" cy="486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6475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Erő számítása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Feladat: </a:t>
            </a:r>
            <a:r>
              <a:rPr lang="hu-HU" sz="1600" dirty="0" err="1">
                <a:latin typeface="+mn-lt"/>
                <a:cs typeface="+mn-cs"/>
              </a:rPr>
              <a:t>norm.eloszlású</a:t>
            </a:r>
            <a:r>
              <a:rPr lang="hu-HU" sz="1600" dirty="0">
                <a:latin typeface="+mn-lt"/>
                <a:cs typeface="+mn-cs"/>
              </a:rPr>
              <a:t> változó különbsége (</a:t>
            </a:r>
            <a:r>
              <a:rPr lang="hu-HU" sz="1600" dirty="0" err="1">
                <a:latin typeface="+mn-lt"/>
                <a:cs typeface="+mn-cs"/>
              </a:rPr>
              <a:t>Verum</a:t>
            </a:r>
            <a:r>
              <a:rPr lang="hu-HU" sz="1600" dirty="0">
                <a:latin typeface="+mn-lt"/>
                <a:cs typeface="+mn-cs"/>
              </a:rPr>
              <a:t> </a:t>
            </a:r>
            <a:r>
              <a:rPr lang="hu-HU" sz="1600" dirty="0" err="1">
                <a:latin typeface="+mn-lt"/>
                <a:cs typeface="+mn-cs"/>
              </a:rPr>
              <a:t>vs</a:t>
            </a:r>
            <a:r>
              <a:rPr lang="hu-HU" sz="1600" dirty="0">
                <a:latin typeface="+mn-lt"/>
                <a:cs typeface="+mn-cs"/>
              </a:rPr>
              <a:t>. Placebo)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H0: nincs különbség, avagy </a:t>
            </a:r>
            <a:r>
              <a:rPr lang="hu-HU" sz="1600" dirty="0" err="1">
                <a:latin typeface="+mn-lt"/>
                <a:cs typeface="+mn-cs"/>
              </a:rPr>
              <a:t>Treatment</a:t>
            </a:r>
            <a:r>
              <a:rPr lang="hu-HU" sz="1600" dirty="0">
                <a:latin typeface="+mn-lt"/>
                <a:cs typeface="+mn-cs"/>
              </a:rPr>
              <a:t> </a:t>
            </a:r>
            <a:r>
              <a:rPr lang="hu-HU" sz="1600" dirty="0" err="1">
                <a:latin typeface="+mn-lt"/>
                <a:cs typeface="+mn-cs"/>
              </a:rPr>
              <a:t>effect</a:t>
            </a:r>
            <a:r>
              <a:rPr lang="hu-HU" sz="1600" dirty="0">
                <a:latin typeface="+mn-lt"/>
                <a:cs typeface="+mn-cs"/>
              </a:rPr>
              <a:t> = 0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Statisztika választása: </a:t>
            </a:r>
            <a:br>
              <a:rPr lang="hu-HU" sz="1600" dirty="0">
                <a:latin typeface="+mn-lt"/>
                <a:cs typeface="+mn-cs"/>
              </a:rPr>
            </a:br>
            <a:r>
              <a:rPr lang="hu-HU" sz="1600" dirty="0">
                <a:latin typeface="+mn-lt"/>
                <a:cs typeface="+mn-cs"/>
              </a:rPr>
              <a:t>t-teszt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(</a:t>
            </a:r>
            <a:r>
              <a:rPr lang="hu-HU" sz="1600" dirty="0" err="1">
                <a:latin typeface="+mn-lt"/>
                <a:cs typeface="+mn-cs"/>
              </a:rPr>
              <a:t>nb.</a:t>
            </a:r>
            <a:r>
              <a:rPr lang="hu-HU" sz="1600" dirty="0">
                <a:latin typeface="+mn-lt"/>
                <a:cs typeface="+mn-cs"/>
              </a:rPr>
              <a:t> ezekre van zárt alak is, </a:t>
            </a:r>
            <a:r>
              <a:rPr lang="hu-HU" sz="1600" dirty="0" err="1">
                <a:latin typeface="+mn-lt"/>
                <a:cs typeface="+mn-cs"/>
              </a:rPr>
              <a:t>noncentral</a:t>
            </a:r>
            <a:r>
              <a:rPr lang="hu-HU" sz="1600" dirty="0">
                <a:latin typeface="+mn-lt"/>
                <a:cs typeface="+mn-cs"/>
              </a:rPr>
              <a:t> t-eloszlásra szokás megadni)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  <a:p>
            <a:pPr marL="742950" lvl="1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EC7DA1-CA21-40F8-BC31-C8E5B0E0EA2E}"/>
              </a:ext>
            </a:extLst>
          </p:cNvPr>
          <p:cNvSpPr/>
          <p:nvPr/>
        </p:nvSpPr>
        <p:spPr>
          <a:xfrm>
            <a:off x="8028384" y="188640"/>
            <a:ext cx="1008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>
                <a:solidFill>
                  <a:schemeClr val="bg1"/>
                </a:solidFill>
              </a:rPr>
              <a:t>(H,</a:t>
            </a:r>
            <a:r>
              <a:rPr lang="hu-HU">
                <a:solidFill>
                  <a:schemeClr val="bg1"/>
                </a:solidFill>
                <a:latin typeface="Blackadder ITC" panose="04020505051007020D02" pitchFamily="82" charset="0"/>
              </a:rPr>
              <a:t>A</a:t>
            </a:r>
            <a:r>
              <a:rPr lang="hu-HU">
                <a:solidFill>
                  <a:schemeClr val="bg1"/>
                </a:solidFill>
              </a:rPr>
              <a:t>,</a:t>
            </a:r>
            <a:r>
              <a:rPr lang="el-GR">
                <a:solidFill>
                  <a:schemeClr val="bg1"/>
                </a:solidFill>
              </a:rPr>
              <a:t>Θ</a:t>
            </a:r>
            <a:r>
              <a:rPr lang="hu-HU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45F6AB-2FC4-45EE-A6C0-FF6D564B3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101" y="21682"/>
            <a:ext cx="4544905" cy="340731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085C585-EAD8-4C8B-ABED-000B8630B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101" y="0"/>
            <a:ext cx="4544905" cy="340731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1C21D62-34FD-4448-B930-56C877C8AF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7101" y="-21682"/>
            <a:ext cx="4544905" cy="340731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0D983B3-1E66-4782-924F-FFBA7B829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479" y="21682"/>
            <a:ext cx="4544905" cy="340731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7670A63-C472-4C6B-8E27-C2F187A165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112" y="-21682"/>
            <a:ext cx="4544905" cy="340731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AF31BDF-0882-48B5-8B01-9FC095DE88D1}"/>
              </a:ext>
            </a:extLst>
          </p:cNvPr>
          <p:cNvSpPr/>
          <p:nvPr/>
        </p:nvSpPr>
        <p:spPr>
          <a:xfrm>
            <a:off x="3707904" y="3140968"/>
            <a:ext cx="4572000" cy="284077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solidFill>
                  <a:schemeClr val="bg1"/>
                </a:solidFill>
              </a:rPr>
              <a:t>Paraméterek lefektetése: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solidFill>
                  <a:schemeClr val="bg1"/>
                </a:solidFill>
              </a:rPr>
              <a:t>Szignifikancia szint (α=5%, 2 oldali)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b="1" dirty="0">
                <a:solidFill>
                  <a:schemeClr val="bg1"/>
                </a:solidFill>
              </a:rPr>
              <a:t>Minimális „érdekes” különbség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b="1" dirty="0" err="1">
                <a:solidFill>
                  <a:schemeClr val="bg1"/>
                </a:solidFill>
              </a:rPr>
              <a:t>Power</a:t>
            </a:r>
            <a:r>
              <a:rPr lang="hu-HU" sz="1400" b="1" dirty="0">
                <a:solidFill>
                  <a:schemeClr val="bg1"/>
                </a:solidFill>
              </a:rPr>
              <a:t> (80-90%; hány %-ban mutasson ki meglévő „m.é.k.”-</a:t>
            </a:r>
            <a:r>
              <a:rPr lang="hu-HU" sz="1400" b="1" dirty="0" err="1">
                <a:solidFill>
                  <a:schemeClr val="bg1"/>
                </a:solidFill>
              </a:rPr>
              <a:t>et</a:t>
            </a:r>
            <a:r>
              <a:rPr lang="hu-HU" sz="1400" b="1" dirty="0">
                <a:solidFill>
                  <a:schemeClr val="bg1"/>
                </a:solidFill>
              </a:rPr>
              <a:t>)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b="1" dirty="0">
                <a:solidFill>
                  <a:schemeClr val="bg1"/>
                </a:solidFill>
              </a:rPr>
              <a:t>Változó eloszlásának paraméterei (szórás)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solidFill>
                  <a:schemeClr val="bg1"/>
                </a:solidFill>
              </a:rPr>
              <a:t>Átlag szórása n=34 alapján… 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u="sng" dirty="0">
                <a:solidFill>
                  <a:schemeClr val="bg1"/>
                </a:solidFill>
              </a:rPr>
              <a:t>(csavar!!) </a:t>
            </a:r>
            <a:r>
              <a:rPr lang="hu-HU" sz="1400" dirty="0" err="1">
                <a:solidFill>
                  <a:schemeClr val="bg1"/>
                </a:solidFill>
              </a:rPr>
              <a:t>observed</a:t>
            </a:r>
            <a:r>
              <a:rPr lang="hu-HU" sz="1400" dirty="0">
                <a:solidFill>
                  <a:schemeClr val="bg1"/>
                </a:solidFill>
              </a:rPr>
              <a:t> </a:t>
            </a:r>
            <a:r>
              <a:rPr lang="hu-HU" sz="1400" dirty="0" err="1">
                <a:solidFill>
                  <a:schemeClr val="bg1"/>
                </a:solidFill>
              </a:rPr>
              <a:t>power</a:t>
            </a:r>
            <a:r>
              <a:rPr lang="hu-HU" sz="1400" dirty="0">
                <a:solidFill>
                  <a:schemeClr val="bg1"/>
                </a:solidFill>
              </a:rPr>
              <a:t> ~82% (szimulált…)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solidFill>
                  <a:schemeClr val="bg1"/>
                </a:solidFill>
              </a:rPr>
              <a:t>Pl. n=28 esetén ~75% lenne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solidFill>
                  <a:schemeClr val="bg1"/>
                </a:solidFill>
              </a:rPr>
              <a:t>n=43 esetén a </a:t>
            </a:r>
            <a:r>
              <a:rPr lang="hu-HU" sz="1400" dirty="0" err="1">
                <a:solidFill>
                  <a:schemeClr val="bg1"/>
                </a:solidFill>
              </a:rPr>
              <a:t>power</a:t>
            </a:r>
            <a:r>
              <a:rPr lang="hu-HU" sz="1400" dirty="0">
                <a:solidFill>
                  <a:schemeClr val="bg1"/>
                </a:solidFill>
              </a:rPr>
              <a:t> &gt;90%... Tehát n=43/KAR kell a vizsgálathoz</a:t>
            </a:r>
          </a:p>
        </p:txBody>
      </p:sp>
    </p:spTree>
    <p:extLst>
      <p:ext uri="{BB962C8B-B14F-4D97-AF65-F5344CB8AC3E}">
        <p14:creationId xmlns:p14="http://schemas.microsoft.com/office/powerpoint/2010/main" val="9810405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3">
            <a:extLst>
              <a:ext uri="{FF2B5EF4-FFF2-40B4-BE49-F238E27FC236}">
                <a16:creationId xmlns:a16="http://schemas.microsoft.com/office/drawing/2014/main" id="{C547CCAB-E0D1-4CF0-9A5B-783A91C55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442" y="2809220"/>
            <a:ext cx="4048780" cy="404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Erő számítása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 err="1">
                <a:latin typeface="+mn-lt"/>
                <a:cs typeface="+mn-cs"/>
              </a:rPr>
              <a:t>Nb.</a:t>
            </a:r>
            <a:r>
              <a:rPr lang="hu-HU" sz="1400" dirty="0">
                <a:latin typeface="+mn-lt"/>
                <a:cs typeface="+mn-cs"/>
              </a:rPr>
              <a:t> gyakorlati megfigyelés, hogy (</a:t>
            </a:r>
            <a:r>
              <a:rPr lang="hu-HU" sz="1400" dirty="0" err="1">
                <a:latin typeface="+mn-lt"/>
                <a:cs typeface="+mn-cs"/>
              </a:rPr>
              <a:t>aaditív</a:t>
            </a:r>
            <a:r>
              <a:rPr lang="hu-HU" sz="1400" dirty="0">
                <a:latin typeface="+mn-lt"/>
                <a:cs typeface="+mn-cs"/>
              </a:rPr>
              <a:t> skálán!) egy adott kezelés hatása állandó, és független a populációtól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A gyakorlatban a variabilitás előzetes becslését a </a:t>
            </a:r>
            <a:r>
              <a:rPr lang="hu-HU" sz="1400" b="1" dirty="0">
                <a:latin typeface="+mn-lt"/>
                <a:cs typeface="+mn-cs"/>
              </a:rPr>
              <a:t>kórképpel</a:t>
            </a:r>
            <a:r>
              <a:rPr lang="hu-HU" sz="1400" dirty="0">
                <a:latin typeface="+mn-lt"/>
                <a:cs typeface="+mn-cs"/>
              </a:rPr>
              <a:t> kapcsolatos varianciák alapján becsüljük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(Példák: Ferenci Tamás &amp; Stephen </a:t>
            </a:r>
            <a:r>
              <a:rPr lang="hu-HU" sz="1400" dirty="0" err="1">
                <a:latin typeface="+mn-lt"/>
                <a:cs typeface="+mn-cs"/>
              </a:rPr>
              <a:t>Senn</a:t>
            </a:r>
            <a:r>
              <a:rPr lang="hu-HU" sz="1400" dirty="0">
                <a:latin typeface="+mn-lt"/>
                <a:cs typeface="+mn-cs"/>
              </a:rPr>
              <a:t> </a:t>
            </a:r>
            <a:r>
              <a:rPr lang="hu-HU" sz="1400" dirty="0" err="1">
                <a:latin typeface="+mn-lt"/>
                <a:cs typeface="+mn-cs"/>
              </a:rPr>
              <a:t>anyagai</a:t>
            </a:r>
            <a:r>
              <a:rPr lang="hu-HU" sz="1400" dirty="0">
                <a:latin typeface="+mn-lt"/>
                <a:cs typeface="+mn-cs"/>
              </a:rPr>
              <a:t> alapján)</a:t>
            </a:r>
          </a:p>
          <a:p>
            <a:pPr marL="742950" lvl="1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3869C4-47AF-4CF0-AF6D-F027F52876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983" t="28268" r="3670" b="22179"/>
          <a:stretch/>
        </p:blipFill>
        <p:spPr>
          <a:xfrm>
            <a:off x="3707904" y="404664"/>
            <a:ext cx="4788000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7611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 err="1">
                <a:latin typeface="+mj-lt"/>
                <a:ea typeface="+mj-ea"/>
                <a:cs typeface="+mj-cs"/>
              </a:rPr>
              <a:t>Péda</a:t>
            </a:r>
            <a:r>
              <a:rPr lang="hu-HU" sz="2400" b="1" dirty="0">
                <a:latin typeface="+mj-lt"/>
                <a:ea typeface="+mj-ea"/>
                <a:cs typeface="+mj-cs"/>
              </a:rPr>
              <a:t> – </a:t>
            </a:r>
            <a:r>
              <a:rPr lang="hu-HU" sz="1600" b="1" dirty="0">
                <a:latin typeface="+mj-lt"/>
                <a:ea typeface="+mj-ea"/>
                <a:cs typeface="+mj-cs"/>
              </a:rPr>
              <a:t>vérnyomáscsökkenés I.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300 egyeden figyeltük meg a diasztolés vérnyomást placebo/</a:t>
            </a:r>
            <a:r>
              <a:rPr lang="hu-HU" sz="1600" dirty="0" err="1">
                <a:latin typeface="+mn-lt"/>
                <a:cs typeface="+mn-cs"/>
              </a:rPr>
              <a:t>verum</a:t>
            </a:r>
            <a:r>
              <a:rPr lang="hu-HU" sz="1600" dirty="0">
                <a:latin typeface="+mn-lt"/>
                <a:cs typeface="+mn-cs"/>
              </a:rPr>
              <a:t> kezelés előtt/után.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Mértük még az </a:t>
            </a:r>
            <a:r>
              <a:rPr lang="hu-HU" sz="1600" dirty="0" err="1">
                <a:latin typeface="+mn-lt"/>
                <a:cs typeface="+mn-cs"/>
              </a:rPr>
              <a:t>egyedek</a:t>
            </a:r>
            <a:r>
              <a:rPr lang="hu-HU" sz="1600" dirty="0">
                <a:latin typeface="+mn-lt"/>
                <a:cs typeface="+mn-cs"/>
              </a:rPr>
              <a:t> magasságát (példa kovariánsra)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(Fiktív példa, elnézést a tizedesekért…)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  <a:p>
            <a:pPr marL="742950" lvl="1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D5D857-F142-42AD-BE87-F37A53767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795" y="245822"/>
            <a:ext cx="3057525" cy="1181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8E1198-B4C0-4FAA-9F8D-E402403BB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242" y="1700808"/>
            <a:ext cx="4971157" cy="414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36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 err="1">
                <a:latin typeface="+mj-lt"/>
                <a:ea typeface="+mj-ea"/>
                <a:cs typeface="+mj-cs"/>
              </a:rPr>
              <a:t>Péda</a:t>
            </a:r>
            <a:r>
              <a:rPr lang="hu-HU" sz="2400" b="1" dirty="0">
                <a:latin typeface="+mj-lt"/>
                <a:ea typeface="+mj-ea"/>
                <a:cs typeface="+mj-cs"/>
              </a:rPr>
              <a:t> – </a:t>
            </a:r>
            <a:r>
              <a:rPr lang="hu-HU" sz="1600" b="1" dirty="0">
                <a:latin typeface="+mj-lt"/>
                <a:ea typeface="+mj-ea"/>
                <a:cs typeface="+mj-cs"/>
              </a:rPr>
              <a:t>vérnyomáscsökkenés II.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Illesszünk lineáris modellt (minden hatás lineáris lehet, itt közepesen értelmes mivel csak két féle </a:t>
            </a:r>
            <a:r>
              <a:rPr lang="hu-HU" sz="1600" dirty="0" err="1">
                <a:latin typeface="+mn-lt"/>
                <a:cs typeface="+mn-cs"/>
              </a:rPr>
              <a:t>treatment</a:t>
            </a:r>
            <a:r>
              <a:rPr lang="hu-HU" sz="1600" dirty="0">
                <a:latin typeface="+mn-lt"/>
                <a:cs typeface="+mn-cs"/>
              </a:rPr>
              <a:t> lehet…)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Kijön, hogy a kezelés hatása ~9Hgmm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A hatás szignifikanciáját is lehet tesztelni (nem feltétlenül pont a dián látható módszerrel) 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A modellünket </a:t>
            </a:r>
            <a:r>
              <a:rPr lang="hu-HU" sz="1600" dirty="0" err="1">
                <a:latin typeface="+mn-lt"/>
                <a:cs typeface="+mn-cs"/>
              </a:rPr>
              <a:t>jokféleképpen</a:t>
            </a:r>
            <a:r>
              <a:rPr lang="hu-HU" sz="1600" dirty="0">
                <a:latin typeface="+mn-lt"/>
                <a:cs typeface="+mn-cs"/>
              </a:rPr>
              <a:t> diagnosztizáljuk az illesztés után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  <a:p>
            <a:pPr marL="742950" lvl="1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D5D857-F142-42AD-BE87-F37A53767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795" y="245822"/>
            <a:ext cx="3057525" cy="1181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36D9F4-0FF7-4345-B8BB-6AE252061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2492896"/>
            <a:ext cx="4850915" cy="15121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6B18F8-F44E-4B6A-A2A5-CA7F4296C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737" y="4077072"/>
            <a:ext cx="2738572" cy="22816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D0A008-EA67-4374-BC05-71B60D9930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324" y="4133465"/>
            <a:ext cx="2457485" cy="204745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C3B08D3-AE3B-4790-B74F-25CF519C13F7}"/>
              </a:ext>
            </a:extLst>
          </p:cNvPr>
          <p:cNvSpPr/>
          <p:nvPr/>
        </p:nvSpPr>
        <p:spPr>
          <a:xfrm>
            <a:off x="3707904" y="174862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hu-HU" b="1" dirty="0" err="1">
                <a:solidFill>
                  <a:schemeClr val="bg1"/>
                </a:solidFill>
              </a:rPr>
              <a:t>Y</a:t>
            </a:r>
            <a:r>
              <a:rPr lang="hu-HU" b="1" baseline="-25000" dirty="0" err="1">
                <a:solidFill>
                  <a:schemeClr val="bg1"/>
                </a:solidFill>
              </a:rPr>
              <a:t>i</a:t>
            </a:r>
            <a:r>
              <a:rPr lang="hu-HU" b="1" dirty="0">
                <a:solidFill>
                  <a:schemeClr val="bg1"/>
                </a:solidFill>
              </a:rPr>
              <a:t> = ß0 + ß1*</a:t>
            </a:r>
            <a:r>
              <a:rPr lang="hu-HU" b="1" dirty="0" err="1">
                <a:solidFill>
                  <a:schemeClr val="bg1"/>
                </a:solidFill>
              </a:rPr>
              <a:t>treat</a:t>
            </a:r>
            <a:r>
              <a:rPr lang="hu-HU" b="1" baseline="-25000" dirty="0" err="1">
                <a:solidFill>
                  <a:schemeClr val="bg1"/>
                </a:solidFill>
              </a:rPr>
              <a:t>i</a:t>
            </a:r>
            <a:r>
              <a:rPr lang="hu-HU" b="1" dirty="0">
                <a:solidFill>
                  <a:schemeClr val="bg1"/>
                </a:solidFill>
              </a:rPr>
              <a:t> + hiba(</a:t>
            </a:r>
            <a:r>
              <a:rPr lang="el-GR" b="1" dirty="0">
                <a:solidFill>
                  <a:schemeClr val="bg1"/>
                </a:solidFill>
              </a:rPr>
              <a:t>ε</a:t>
            </a:r>
            <a:r>
              <a:rPr lang="hu-HU" b="1" dirty="0">
                <a:solidFill>
                  <a:schemeClr val="bg1"/>
                </a:solidFill>
              </a:rPr>
              <a:t>)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17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 err="1">
                <a:latin typeface="+mj-lt"/>
                <a:ea typeface="+mj-ea"/>
                <a:cs typeface="+mj-cs"/>
              </a:rPr>
              <a:t>Péda</a:t>
            </a:r>
            <a:r>
              <a:rPr lang="hu-HU" sz="2400" b="1" dirty="0">
                <a:latin typeface="+mj-lt"/>
                <a:ea typeface="+mj-ea"/>
                <a:cs typeface="+mj-cs"/>
              </a:rPr>
              <a:t> – </a:t>
            </a:r>
            <a:r>
              <a:rPr lang="hu-HU" sz="1600" b="1" dirty="0">
                <a:latin typeface="+mj-lt"/>
                <a:ea typeface="+mj-ea"/>
                <a:cs typeface="+mj-cs"/>
              </a:rPr>
              <a:t>vérnyomáscsökkenés III.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Használjunk ki minden mérést!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Illesszünk egy modellt, ami figyelembe veszi a</a:t>
            </a:r>
          </a:p>
          <a:p>
            <a:pPr marL="742950" lvl="1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Kiinduló </a:t>
            </a:r>
            <a:r>
              <a:rPr lang="hu-HU" sz="1600" dirty="0" err="1">
                <a:latin typeface="+mn-lt"/>
                <a:cs typeface="+mn-cs"/>
              </a:rPr>
              <a:t>vnyom</a:t>
            </a:r>
            <a:r>
              <a:rPr lang="hu-HU" sz="1600" dirty="0">
                <a:latin typeface="+mn-lt"/>
                <a:cs typeface="+mn-cs"/>
              </a:rPr>
              <a:t>.</a:t>
            </a:r>
          </a:p>
          <a:p>
            <a:pPr marL="742950" lvl="1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Magasság-ot is!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Értelmezés: 90 bp1 + 170 </a:t>
            </a:r>
            <a:r>
              <a:rPr lang="hu-HU" sz="1600" dirty="0" err="1">
                <a:latin typeface="+mn-lt"/>
                <a:cs typeface="+mn-cs"/>
              </a:rPr>
              <a:t>height</a:t>
            </a:r>
            <a:r>
              <a:rPr lang="hu-HU" sz="1600" dirty="0">
                <a:latin typeface="+mn-lt"/>
                <a:cs typeface="+mn-cs"/>
              </a:rPr>
              <a:t> + 1*</a:t>
            </a:r>
            <a:r>
              <a:rPr lang="hu-HU" sz="1600" dirty="0" err="1">
                <a:latin typeface="+mn-lt"/>
                <a:cs typeface="+mn-cs"/>
              </a:rPr>
              <a:t>treatment</a:t>
            </a:r>
            <a:r>
              <a:rPr lang="hu-HU" sz="1600" dirty="0">
                <a:latin typeface="+mn-lt"/>
                <a:cs typeface="+mn-cs"/>
              </a:rPr>
              <a:t> esetén: </a:t>
            </a:r>
            <a:br>
              <a:rPr lang="hu-HU" sz="1600" dirty="0">
                <a:latin typeface="+mn-lt"/>
                <a:cs typeface="+mn-cs"/>
              </a:rPr>
            </a:br>
            <a:r>
              <a:rPr lang="hu-HU" sz="1600" dirty="0">
                <a:latin typeface="+mn-lt"/>
                <a:cs typeface="+mn-cs"/>
              </a:rPr>
              <a:t>~-360-10+90+320=60 végső vérnyom.-ot jósol a modell 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Lent látható az egyes </a:t>
            </a:r>
            <a:r>
              <a:rPr lang="hu-HU" sz="1400" dirty="0" err="1">
                <a:latin typeface="+mn-lt"/>
                <a:cs typeface="+mn-cs"/>
              </a:rPr>
              <a:t>prediktorok</a:t>
            </a:r>
            <a:r>
              <a:rPr lang="hu-HU" sz="1400" dirty="0">
                <a:latin typeface="+mn-lt"/>
                <a:cs typeface="+mn-cs"/>
              </a:rPr>
              <a:t> (korrekt) szignifikancia tesztje</a:t>
            </a:r>
          </a:p>
          <a:p>
            <a:pPr marL="742950" lvl="1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541A82-9FA7-431C-83F5-70FD05A09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27" y="4570695"/>
            <a:ext cx="2767319" cy="23055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345D02-0A1D-485A-AA79-3ED3A05B3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606" y="623392"/>
            <a:ext cx="5660393" cy="50464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190F74-F381-4571-AD40-D5C4C5FC2A35}"/>
              </a:ext>
            </a:extLst>
          </p:cNvPr>
          <p:cNvSpPr txBox="1"/>
          <p:nvPr/>
        </p:nvSpPr>
        <p:spPr>
          <a:xfrm>
            <a:off x="3851920" y="116632"/>
            <a:ext cx="48965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b="1" dirty="0" err="1">
                <a:solidFill>
                  <a:schemeClr val="bg1"/>
                </a:solidFill>
              </a:rPr>
              <a:t>Y</a:t>
            </a:r>
            <a:r>
              <a:rPr lang="hu-HU" sz="1600" b="1" baseline="-25000" dirty="0" err="1">
                <a:solidFill>
                  <a:schemeClr val="bg1"/>
                </a:solidFill>
              </a:rPr>
              <a:t>i</a:t>
            </a:r>
            <a:r>
              <a:rPr lang="hu-HU" sz="1600" b="1" dirty="0">
                <a:solidFill>
                  <a:schemeClr val="bg1"/>
                </a:solidFill>
              </a:rPr>
              <a:t> = ß0 + ß1*</a:t>
            </a:r>
            <a:r>
              <a:rPr lang="hu-HU" sz="1600" b="1" dirty="0" err="1">
                <a:solidFill>
                  <a:schemeClr val="bg1"/>
                </a:solidFill>
              </a:rPr>
              <a:t>treat</a:t>
            </a:r>
            <a:r>
              <a:rPr lang="hu-HU" sz="1600" b="1" baseline="-25000" dirty="0" err="1">
                <a:solidFill>
                  <a:schemeClr val="bg1"/>
                </a:solidFill>
              </a:rPr>
              <a:t>i</a:t>
            </a:r>
            <a:r>
              <a:rPr lang="hu-HU" sz="1600" b="1" dirty="0">
                <a:solidFill>
                  <a:schemeClr val="bg1"/>
                </a:solidFill>
              </a:rPr>
              <a:t> + ß2*bp1</a:t>
            </a:r>
            <a:r>
              <a:rPr lang="hu-HU" sz="1600" b="1" baseline="-25000" dirty="0">
                <a:solidFill>
                  <a:schemeClr val="bg1"/>
                </a:solidFill>
              </a:rPr>
              <a:t>i</a:t>
            </a:r>
            <a:r>
              <a:rPr lang="hu-HU" sz="1600" b="1" dirty="0">
                <a:solidFill>
                  <a:schemeClr val="bg1"/>
                </a:solidFill>
              </a:rPr>
              <a:t> + ß3*</a:t>
            </a:r>
            <a:r>
              <a:rPr lang="hu-HU" sz="1600" b="1" dirty="0" err="1">
                <a:solidFill>
                  <a:schemeClr val="bg1"/>
                </a:solidFill>
              </a:rPr>
              <a:t>height</a:t>
            </a:r>
            <a:r>
              <a:rPr lang="hu-HU" sz="1600" b="1" baseline="-25000" dirty="0" err="1">
                <a:solidFill>
                  <a:schemeClr val="bg1"/>
                </a:solidFill>
              </a:rPr>
              <a:t>i</a:t>
            </a:r>
            <a:r>
              <a:rPr lang="hu-HU" sz="1600" b="1" dirty="0">
                <a:solidFill>
                  <a:schemeClr val="bg1"/>
                </a:solidFill>
              </a:rPr>
              <a:t> + hiba(</a:t>
            </a:r>
            <a:r>
              <a:rPr lang="el-GR" sz="1600" b="1" dirty="0">
                <a:solidFill>
                  <a:schemeClr val="bg1"/>
                </a:solidFill>
              </a:rPr>
              <a:t>ε</a:t>
            </a:r>
            <a:r>
              <a:rPr lang="hu-HU" sz="1600" b="1" dirty="0">
                <a:solidFill>
                  <a:schemeClr val="bg1"/>
                </a:solidFill>
              </a:rPr>
              <a:t>)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362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RCT – véletlen bevitele a kísérletbe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A klinikai vizsgálatok nem random mintavétellel történnek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Véletlent viszünk be a kísérletbe, hogy a hatás ne </a:t>
            </a:r>
            <a:r>
              <a:rPr lang="hu-HU" sz="1600" dirty="0" err="1">
                <a:latin typeface="+mn-lt"/>
                <a:cs typeface="+mn-cs"/>
              </a:rPr>
              <a:t>függjön</a:t>
            </a:r>
            <a:r>
              <a:rPr lang="hu-HU" sz="1600" dirty="0">
                <a:latin typeface="+mn-lt"/>
                <a:cs typeface="+mn-cs"/>
              </a:rPr>
              <a:t> egyéb, nem kontrollált változóktól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A kísérletek során szinte mindig (negatív) kontrollt is alkalmazunk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A megfigyelt variabilitás az adott szinten megfigyelt variabilitások összege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dirty="0">
                <a:latin typeface="+mn-lt"/>
                <a:cs typeface="+mn-cs"/>
              </a:rPr>
              <a:t>(Ábra Stephen </a:t>
            </a:r>
            <a:r>
              <a:rPr lang="hu-HU" sz="1200" dirty="0" err="1">
                <a:latin typeface="+mn-lt"/>
                <a:cs typeface="+mn-cs"/>
              </a:rPr>
              <a:t>Senn</a:t>
            </a:r>
            <a:r>
              <a:rPr lang="hu-HU" sz="1200" dirty="0">
                <a:latin typeface="+mn-lt"/>
                <a:cs typeface="+mn-cs"/>
              </a:rPr>
              <a:t> alapján)</a:t>
            </a:r>
            <a:endParaRPr lang="hu-HU" sz="1100" dirty="0">
              <a:latin typeface="+mn-lt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  <a:p>
            <a:pPr marL="742950" lvl="1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25300-6B9B-43EB-B96F-30B66F64E9CD}"/>
              </a:ext>
            </a:extLst>
          </p:cNvPr>
          <p:cNvSpPr txBox="1"/>
          <p:nvPr/>
        </p:nvSpPr>
        <p:spPr>
          <a:xfrm>
            <a:off x="3553867" y="2852936"/>
            <a:ext cx="5590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b="1" dirty="0" err="1">
                <a:solidFill>
                  <a:schemeClr val="bg1"/>
                </a:solidFill>
              </a:rPr>
              <a:t>Obs.var</a:t>
            </a:r>
            <a:r>
              <a:rPr lang="hu-HU" sz="1200" b="1" dirty="0">
                <a:solidFill>
                  <a:schemeClr val="bg1"/>
                </a:solidFill>
              </a:rPr>
              <a:t>. = var(</a:t>
            </a:r>
            <a:r>
              <a:rPr lang="hu-HU" sz="1200" b="1" dirty="0" err="1">
                <a:solidFill>
                  <a:schemeClr val="bg1"/>
                </a:solidFill>
              </a:rPr>
              <a:t>treatment</a:t>
            </a:r>
            <a:r>
              <a:rPr lang="hu-HU" sz="1200" b="1" dirty="0">
                <a:solidFill>
                  <a:schemeClr val="bg1"/>
                </a:solidFill>
              </a:rPr>
              <a:t>) + var(</a:t>
            </a:r>
            <a:r>
              <a:rPr lang="hu-HU" sz="1200" b="1" dirty="0" err="1">
                <a:solidFill>
                  <a:schemeClr val="bg1"/>
                </a:solidFill>
              </a:rPr>
              <a:t>within</a:t>
            </a:r>
            <a:r>
              <a:rPr lang="hu-HU" sz="1200" b="1" dirty="0">
                <a:solidFill>
                  <a:schemeClr val="bg1"/>
                </a:solidFill>
              </a:rPr>
              <a:t> </a:t>
            </a:r>
            <a:r>
              <a:rPr lang="hu-HU" sz="1200" b="1" dirty="0" err="1">
                <a:solidFill>
                  <a:schemeClr val="bg1"/>
                </a:solidFill>
              </a:rPr>
              <a:t>sub</a:t>
            </a:r>
            <a:r>
              <a:rPr lang="hu-HU" sz="1200" b="1" dirty="0">
                <a:solidFill>
                  <a:schemeClr val="bg1"/>
                </a:solidFill>
              </a:rPr>
              <a:t>.) + var(</a:t>
            </a:r>
            <a:r>
              <a:rPr lang="hu-HU" sz="1200" b="1" dirty="0" err="1">
                <a:solidFill>
                  <a:schemeClr val="bg1"/>
                </a:solidFill>
              </a:rPr>
              <a:t>between</a:t>
            </a:r>
            <a:r>
              <a:rPr lang="hu-HU" sz="1200" b="1" dirty="0">
                <a:solidFill>
                  <a:schemeClr val="bg1"/>
                </a:solidFill>
              </a:rPr>
              <a:t> </a:t>
            </a:r>
            <a:r>
              <a:rPr lang="hu-HU" sz="1200" b="1" dirty="0" err="1">
                <a:solidFill>
                  <a:schemeClr val="bg1"/>
                </a:solidFill>
              </a:rPr>
              <a:t>sub</a:t>
            </a:r>
            <a:r>
              <a:rPr lang="hu-HU" sz="1200" b="1" dirty="0">
                <a:solidFill>
                  <a:schemeClr val="bg1"/>
                </a:solidFill>
              </a:rPr>
              <a:t>.) + var(site)</a:t>
            </a:r>
            <a:r>
              <a:rPr lang="hu-HU" sz="500" b="1" dirty="0">
                <a:solidFill>
                  <a:schemeClr val="bg1"/>
                </a:solidFill>
              </a:rPr>
              <a:t>…</a:t>
            </a:r>
            <a:endParaRPr lang="en-US" sz="1200" b="1" dirty="0">
              <a:solidFill>
                <a:schemeClr val="bg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F1B06C9-3EE0-47B3-AEF1-CFA899E6DA95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4132240" y="3129934"/>
            <a:ext cx="619780" cy="299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408BBA3-F170-4DF3-8658-80D22114A9CA}"/>
              </a:ext>
            </a:extLst>
          </p:cNvPr>
          <p:cNvSpPr/>
          <p:nvPr/>
        </p:nvSpPr>
        <p:spPr>
          <a:xfrm>
            <a:off x="3707904" y="3429000"/>
            <a:ext cx="2088232" cy="12961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solidFill>
                  <a:schemeClr val="bg1"/>
                </a:solidFill>
              </a:rPr>
              <a:t>Ebből következik, hogy a becslésünk nem lehet teljesen pontos, még n -&gt; ∞ esetén sem!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2" name="Picture 21" descr="A screenshot of a cell phone&#10;&#10;Description automatically generated">
            <a:extLst>
              <a:ext uri="{FF2B5EF4-FFF2-40B4-BE49-F238E27FC236}">
                <a16:creationId xmlns:a16="http://schemas.microsoft.com/office/drawing/2014/main" id="{35085FBE-22F5-4086-B0F2-605DF13BD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6088" y="5076963"/>
            <a:ext cx="2552700" cy="77152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603DA04-E789-410F-8F97-05C51A7BA79D}"/>
              </a:ext>
            </a:extLst>
          </p:cNvPr>
          <p:cNvSpPr txBox="1"/>
          <p:nvPr/>
        </p:nvSpPr>
        <p:spPr>
          <a:xfrm>
            <a:off x="3973323" y="5859286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err="1">
                <a:solidFill>
                  <a:schemeClr val="bg1"/>
                </a:solidFill>
              </a:rPr>
              <a:t>Nb.</a:t>
            </a:r>
            <a:r>
              <a:rPr lang="hu-HU" sz="1200" dirty="0">
                <a:solidFill>
                  <a:schemeClr val="bg1"/>
                </a:solidFill>
              </a:rPr>
              <a:t> a kovariánsokat a kísérlet kezdetekor specifikálni kell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7" name="Picture 26" descr="A close up of a logo&#10;&#10;Description automatically generated">
            <a:extLst>
              <a:ext uri="{FF2B5EF4-FFF2-40B4-BE49-F238E27FC236}">
                <a16:creationId xmlns:a16="http://schemas.microsoft.com/office/drawing/2014/main" id="{D1A97B4B-CA5E-4E90-ADEF-9BE4AAD4F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323" y="227158"/>
            <a:ext cx="4030522" cy="239952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F859853-31D7-4BC5-A752-A7E8AA4631D3}"/>
              </a:ext>
            </a:extLst>
          </p:cNvPr>
          <p:cNvSpPr txBox="1"/>
          <p:nvPr/>
        </p:nvSpPr>
        <p:spPr>
          <a:xfrm>
            <a:off x="7236296" y="3861048"/>
            <a:ext cx="1800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accent3">
                    <a:lumMod val="50000"/>
                  </a:schemeClr>
                </a:solidFill>
              </a:rPr>
              <a:t>+: létezik még </a:t>
            </a:r>
            <a:r>
              <a:rPr lang="hu-HU" dirty="0" err="1">
                <a:solidFill>
                  <a:schemeClr val="accent3">
                    <a:lumMod val="50000"/>
                  </a:schemeClr>
                </a:solidFill>
              </a:rPr>
              <a:t>rétegzés</a:t>
            </a:r>
            <a:r>
              <a:rPr lang="hu-HU" dirty="0">
                <a:solidFill>
                  <a:schemeClr val="accent3">
                    <a:lumMod val="50000"/>
                  </a:schemeClr>
                </a:solidFill>
              </a:rPr>
              <a:t>…. Pl. a csoportokban rögzítjük a ffi/nők arányát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17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További feladatok, Problémák….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Idősorokról nem beszéltem….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Fixed/random </a:t>
            </a:r>
            <a:r>
              <a:rPr lang="hu-HU" sz="1600" dirty="0" err="1">
                <a:latin typeface="+mn-lt"/>
                <a:cs typeface="+mn-cs"/>
              </a:rPr>
              <a:t>effects</a:t>
            </a:r>
            <a:r>
              <a:rPr lang="hu-HU" sz="1600" dirty="0">
                <a:latin typeface="+mn-lt"/>
                <a:cs typeface="+mn-cs"/>
              </a:rPr>
              <a:t> (mixed) modellekről nem beszéltem…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Túléléselemzésről nem beszéltem…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A </a:t>
            </a:r>
            <a:r>
              <a:rPr lang="hu-HU" sz="1600" dirty="0" err="1">
                <a:latin typeface="+mn-lt"/>
                <a:cs typeface="+mn-cs"/>
              </a:rPr>
              <a:t>biostatisztikus</a:t>
            </a:r>
            <a:r>
              <a:rPr lang="hu-HU" sz="1600" dirty="0">
                <a:latin typeface="+mn-lt"/>
                <a:cs typeface="+mn-cs"/>
              </a:rPr>
              <a:t> szerepéről csak ezen a dián esik szó…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Semmiről nem beszéltem mélyebben…</a:t>
            </a:r>
          </a:p>
          <a:p>
            <a:pPr marL="57150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1100" i="1" dirty="0">
                <a:latin typeface="+mn-lt"/>
                <a:cs typeface="+mn-cs"/>
              </a:rPr>
              <a:t>(Az ábrák Stephen J. </a:t>
            </a:r>
            <a:r>
              <a:rPr lang="hu-HU" sz="1100" i="1" dirty="0" err="1">
                <a:latin typeface="+mn-lt"/>
                <a:cs typeface="+mn-cs"/>
              </a:rPr>
              <a:t>Ruberg</a:t>
            </a:r>
            <a:r>
              <a:rPr lang="hu-HU" sz="1100" i="1" dirty="0">
                <a:latin typeface="+mn-lt"/>
                <a:cs typeface="+mn-cs"/>
              </a:rPr>
              <a:t> 2018 alapján, a szerző implicit engedélyével)</a:t>
            </a:r>
            <a:endParaRPr lang="hu-HU" sz="1600" i="1" dirty="0">
              <a:latin typeface="+mn-lt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100" dirty="0">
              <a:latin typeface="+mn-lt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  <a:p>
            <a:pPr marL="742950" lvl="1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C3D055-6ADD-496B-BA2F-6D02F5488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924" y="476672"/>
            <a:ext cx="5472608" cy="24059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B3AD84-F445-42BD-8C5E-2D6B9D337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588" y="3284984"/>
            <a:ext cx="5653280" cy="24703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452488-D32F-4303-8118-962EA8215E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7450" y="3237492"/>
            <a:ext cx="5682686" cy="251783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6DA1722-CECF-4A09-80B4-B79A6E227B46}"/>
              </a:ext>
            </a:extLst>
          </p:cNvPr>
          <p:cNvSpPr/>
          <p:nvPr/>
        </p:nvSpPr>
        <p:spPr>
          <a:xfrm>
            <a:off x="3553604" y="5949280"/>
            <a:ext cx="5770924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>
                <a:hlinkClick r:id="rId5"/>
              </a:rPr>
              <a:t>https://database.ich.org/sites/default/files/E9_Guideline.pdf</a:t>
            </a:r>
            <a:endParaRPr lang="hu-HU" sz="700" dirty="0"/>
          </a:p>
          <a:p>
            <a:r>
              <a:rPr lang="en-US" sz="700" dirty="0">
                <a:hlinkClick r:id="rId6"/>
              </a:rPr>
              <a:t>https://database.ich.org/sites/default/files/E9-R1_EWG_Draft_Guideline.pdf</a:t>
            </a:r>
            <a:endParaRPr lang="hu-HU" sz="700" dirty="0"/>
          </a:p>
          <a:p>
            <a:r>
              <a:rPr lang="en-US" sz="700" dirty="0">
                <a:hlinkClick r:id="rId7"/>
              </a:rPr>
              <a:t>https://www.ema.europa.eu/en/documents/scientific-guideline/guideline-adjustment-baseline-covariates-clinical-trials_en.pdf</a:t>
            </a:r>
            <a:endParaRPr lang="hu-HU" sz="700" dirty="0"/>
          </a:p>
          <a:p>
            <a:r>
              <a:rPr lang="en-US" sz="700" dirty="0">
                <a:hlinkClick r:id="rId8"/>
              </a:rPr>
              <a:t>https://www.fda.gov/media/123801/download</a:t>
            </a:r>
            <a:endParaRPr lang="hu-HU" sz="700" dirty="0"/>
          </a:p>
          <a:p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474560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lapértelmezett terv">
  <a:themeElements>
    <a:clrScheme name="Alapértelmezett terv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lapértelmezett terv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Alapértelmezett terv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apértelmezett terv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apértelmezett terv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apértelmezett terv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apértelmezett terv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apértelmezett terv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lapértelmezett terv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lapértelmezett terv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lapértelmezett terv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lapértelmezett terv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lapértelmezett terv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lapértelmezett terv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584A7F36D44BF74883BD7F95B2A87A0A" ma:contentTypeVersion="0" ma:contentTypeDescription="Új dokumentum létrehozása." ma:contentTypeScope="" ma:versionID="e942af228e23d3b7a5915d8632f1910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047bb06e0a2f553563b46466d8dd50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E122C0-1D1C-40C2-8CC2-F80E4D47D6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89BF236-B478-4360-B846-60688663D1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735E7D-F63C-4665-B1D0-8A76D563AB20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6096</TotalTime>
  <Words>2254</Words>
  <Application>Microsoft Office PowerPoint</Application>
  <PresentationFormat>On-screen Show (4:3)</PresentationFormat>
  <Paragraphs>232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Blackadder ITC</vt:lpstr>
      <vt:lpstr>Calibri</vt:lpstr>
      <vt:lpstr>Lucida Console</vt:lpstr>
      <vt:lpstr>Times New Roman</vt:lpstr>
      <vt:lpstr>Wingdings</vt:lpstr>
      <vt:lpstr>Alapértelmezett terv</vt:lpstr>
      <vt:lpstr>A biostatisztika és a biostatisztikus szerepe  a klinikai vizsgálatoban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biostatisztika és a biostatisztikus szerepe  a klinikai vizsgálatoban</dc:title>
  <dc:creator>Kiss, Marton HU</dc:creator>
  <cp:lastModifiedBy>Kiss, Marton HU</cp:lastModifiedBy>
  <cp:revision>126</cp:revision>
  <dcterms:created xsi:type="dcterms:W3CDTF">2019-10-29T13:00:22Z</dcterms:created>
  <dcterms:modified xsi:type="dcterms:W3CDTF">2020-03-31T09:31:55Z</dcterms:modified>
</cp:coreProperties>
</file>